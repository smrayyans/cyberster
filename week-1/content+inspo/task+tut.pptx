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notesMasterIdLst>
    <p:notesMasterId r:id="rId40"/>
  </p:notesMasterIdLst>
  <p:sldIdLst>
    <p:sldId id="257" r:id="rId2"/>
    <p:sldId id="300" r:id="rId3"/>
    <p:sldId id="261" r:id="rId4"/>
    <p:sldId id="262" r:id="rId5"/>
    <p:sldId id="263" r:id="rId6"/>
    <p:sldId id="264" r:id="rId7"/>
    <p:sldId id="266" r:id="rId8"/>
    <p:sldId id="267" r:id="rId9"/>
    <p:sldId id="265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8" r:id="rId19"/>
    <p:sldId id="277" r:id="rId20"/>
    <p:sldId id="279" r:id="rId21"/>
    <p:sldId id="280" r:id="rId22"/>
    <p:sldId id="302" r:id="rId23"/>
    <p:sldId id="301" r:id="rId24"/>
    <p:sldId id="297" r:id="rId25"/>
    <p:sldId id="304" r:id="rId26"/>
    <p:sldId id="281" r:id="rId27"/>
    <p:sldId id="303" r:id="rId28"/>
    <p:sldId id="283" r:id="rId29"/>
    <p:sldId id="284" r:id="rId30"/>
    <p:sldId id="305" r:id="rId31"/>
    <p:sldId id="286" r:id="rId32"/>
    <p:sldId id="298" r:id="rId33"/>
    <p:sldId id="296" r:id="rId34"/>
    <p:sldId id="299" r:id="rId35"/>
    <p:sldId id="292" r:id="rId36"/>
    <p:sldId id="293" r:id="rId37"/>
    <p:sldId id="294" r:id="rId38"/>
    <p:sldId id="30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1BCB"/>
    <a:srgbClr val="2BA60E"/>
    <a:srgbClr val="3BE214"/>
    <a:srgbClr val="AF0980"/>
    <a:srgbClr val="F70D07"/>
    <a:srgbClr val="2E3722"/>
    <a:srgbClr val="344529"/>
    <a:srgbClr val="2B3922"/>
    <a:srgbClr val="FCF7F1"/>
    <a:srgbClr val="B8D2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322" autoAdjust="0"/>
  </p:normalViewPr>
  <p:slideViewPr>
    <p:cSldViewPr snapToGrid="0">
      <p:cViewPr>
        <p:scale>
          <a:sx n="75" d="100"/>
          <a:sy n="75" d="100"/>
        </p:scale>
        <p:origin x="-246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1E6-916B-456A-B5D7-25412AB16E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29CF5B-3002-4D80-82EB-15E53E6EC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64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29CF5B-3002-4D80-82EB-15E53E6EC1D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17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3/3/2026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nsdumpster.com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sub.target.co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677071" y="-108284"/>
            <a:ext cx="12191979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03155" y="2108679"/>
            <a:ext cx="4775075" cy="717648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Prepared by 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41030" y="2826327"/>
            <a:ext cx="5113800" cy="173372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 smtClean="0">
                <a:solidFill>
                  <a:schemeClr val="tx1"/>
                </a:solidFill>
              </a:rPr>
              <a:t>Umar </a:t>
            </a:r>
            <a:r>
              <a:rPr lang="en-US" sz="2400" dirty="0" err="1" smtClean="0">
                <a:solidFill>
                  <a:schemeClr val="tx1"/>
                </a:solidFill>
              </a:rPr>
              <a:t>Niaz</a:t>
            </a:r>
            <a:endParaRPr lang="en-US" sz="2400" dirty="0" smtClean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2400" dirty="0" smtClean="0">
                <a:solidFill>
                  <a:schemeClr val="tx1"/>
                </a:solidFill>
              </a:rPr>
              <a:t>Red Team Instructor at </a:t>
            </a:r>
            <a:r>
              <a:rPr lang="en-US" sz="2400" dirty="0" err="1" smtClean="0">
                <a:solidFill>
                  <a:schemeClr val="tx1"/>
                </a:solidFill>
              </a:rPr>
              <a:t>Cyberster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1238250"/>
            <a:ext cx="11391900" cy="52097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 smtClean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 smtClean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smtClean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                                        WEEK 1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smtClean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                                        4 TASKS</a:t>
            </a:r>
            <a:endParaRPr lang="en-US" altLang="en-US" sz="36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184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Advanced Recon &amp; Attack Surface Mapping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81125"/>
            <a:ext cx="10515600" cy="4571619"/>
          </a:xfrm>
        </p:spPr>
        <p:txBody>
          <a:bodyPr/>
          <a:lstStyle/>
          <a:p>
            <a:r>
              <a:rPr lang="en-US" b="1" dirty="0"/>
              <a:t>Objective:</a:t>
            </a:r>
            <a:r>
              <a:rPr lang="en-US" dirty="0"/>
              <a:t> To master the art of information gathering and identifying the digital footprint of a target without being detected </a:t>
            </a:r>
            <a:endParaRPr lang="en-US" dirty="0" smtClean="0"/>
          </a:p>
          <a:p>
            <a:r>
              <a:rPr lang="en-US" b="1" dirty="0"/>
              <a:t>Task 01 – Passive OSINT &amp; Subdomain Enumeration</a:t>
            </a:r>
          </a:p>
          <a:p>
            <a:pPr lvl="0" fontAlgn="base"/>
            <a:r>
              <a:rPr lang="en-US" b="1" dirty="0"/>
              <a:t>Description:</a:t>
            </a:r>
            <a:r>
              <a:rPr lang="en-US" dirty="0"/>
              <a:t> Conduct a thorough passive reconnaissance on a given target domain (e.g., a bug bounty target or a dummy corporate domain). </a:t>
            </a:r>
          </a:p>
          <a:p>
            <a:pPr lvl="0" fontAlgn="base"/>
            <a:r>
              <a:rPr lang="en-US" b="1" dirty="0"/>
              <a:t>Technical Requirements: </a:t>
            </a:r>
            <a:endParaRPr lang="en-US" dirty="0"/>
          </a:p>
          <a:p>
            <a:r>
              <a:rPr lang="en-US" dirty="0"/>
              <a:t>○ Perform subdomain discovery using a combination of tools: </a:t>
            </a:r>
            <a:r>
              <a:rPr lang="en-US" b="1" dirty="0" err="1"/>
              <a:t>Subfinder</a:t>
            </a:r>
            <a:r>
              <a:rPr lang="en-US" dirty="0"/>
              <a:t>, </a:t>
            </a:r>
            <a:r>
              <a:rPr lang="en-US" b="1" dirty="0" err="1"/>
              <a:t>Assetfinder</a:t>
            </a:r>
            <a:r>
              <a:rPr lang="en-US" dirty="0"/>
              <a:t>, and </a:t>
            </a:r>
            <a:r>
              <a:rPr lang="en-US" b="1" dirty="0"/>
              <a:t>Amass</a:t>
            </a:r>
            <a:r>
              <a:rPr lang="en-US" dirty="0"/>
              <a:t>. </a:t>
            </a:r>
          </a:p>
          <a:p>
            <a:r>
              <a:rPr lang="en-US" dirty="0"/>
              <a:t>○ Use </a:t>
            </a:r>
            <a:r>
              <a:rPr lang="en-US" b="1" dirty="0"/>
              <a:t>DNS Dumpster</a:t>
            </a:r>
            <a:r>
              <a:rPr lang="en-US" dirty="0"/>
              <a:t> and </a:t>
            </a:r>
            <a:r>
              <a:rPr lang="en-US" b="1" dirty="0"/>
              <a:t>CRT.sh</a:t>
            </a:r>
            <a:r>
              <a:rPr lang="en-US" dirty="0"/>
              <a:t> to find historical subdomains and SSL certificate leaks. </a:t>
            </a:r>
          </a:p>
          <a:p>
            <a:r>
              <a:rPr lang="en-US" dirty="0"/>
              <a:t>○ Identify "hidden" assets that are not indexed by search engines. </a:t>
            </a:r>
          </a:p>
          <a:p>
            <a:r>
              <a:rPr lang="en-US" b="1" dirty="0"/>
              <a:t>Learning Goal:</a:t>
            </a:r>
            <a:r>
              <a:rPr lang="en-US" dirty="0"/>
              <a:t> </a:t>
            </a:r>
            <a:r>
              <a:rPr lang="en-US" dirty="0" smtClean="0"/>
              <a:t>Understand that </a:t>
            </a:r>
            <a:r>
              <a:rPr lang="en-US" dirty="0"/>
              <a:t>no single tool is enough; cross-referencing results is key to a successful Red Team </a:t>
            </a:r>
            <a:r>
              <a:rPr lang="en-US" dirty="0" smtClean="0"/>
              <a:t>operation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66750"/>
            <a:ext cx="10058400" cy="5305044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Create a directory 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b="1" dirty="0" err="1"/>
              <a:t>Subfinder</a:t>
            </a:r>
            <a:endParaRPr lang="en-US" b="1" dirty="0"/>
          </a:p>
          <a:p>
            <a:r>
              <a:rPr lang="en-US" dirty="0" err="1"/>
              <a:t>subfinder</a:t>
            </a:r>
            <a:r>
              <a:rPr lang="en-US" dirty="0"/>
              <a:t> -d </a:t>
            </a:r>
            <a:r>
              <a:rPr lang="en-US" dirty="0" smtClean="0"/>
              <a:t>target.com </a:t>
            </a:r>
            <a:r>
              <a:rPr lang="en-US" dirty="0"/>
              <a:t>-o </a:t>
            </a:r>
            <a:r>
              <a:rPr lang="en-US" dirty="0" smtClean="0"/>
              <a:t>subfindertargetname.txt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subfinder</a:t>
            </a:r>
            <a:r>
              <a:rPr lang="en-US" dirty="0" smtClean="0"/>
              <a:t> </a:t>
            </a:r>
            <a:r>
              <a:rPr lang="en-US" dirty="0"/>
              <a:t>-d target.com -silent -o </a:t>
            </a:r>
            <a:r>
              <a:rPr lang="en-US" dirty="0" err="1" smtClean="0"/>
              <a:t>subfinder</a:t>
            </a:r>
            <a:endParaRPr lang="en-US" dirty="0" smtClean="0"/>
          </a:p>
          <a:p>
            <a:r>
              <a:rPr lang="en-US" dirty="0"/>
              <a:t>-silent suppresses banners</a:t>
            </a:r>
          </a:p>
          <a:p>
            <a:r>
              <a:rPr lang="en-US" dirty="0"/>
              <a:t>If we use silent it will suppress this banner</a:t>
            </a:r>
          </a:p>
          <a:p>
            <a:r>
              <a:rPr lang="en-US" dirty="0"/>
              <a:t> extra output so only the discovered subdomains are printed, making the results clean for saving to a file</a:t>
            </a:r>
            <a:r>
              <a:rPr lang="en-US" dirty="0" smtClean="0"/>
              <a:t>.</a:t>
            </a:r>
          </a:p>
          <a:p>
            <a:r>
              <a:rPr lang="en-US" dirty="0"/>
              <a:t>Pulls passive data from multiple </a:t>
            </a:r>
            <a:r>
              <a:rPr lang="en-US" dirty="0" smtClean="0"/>
              <a:t>sources.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066800" y="1009650"/>
            <a:ext cx="3162300" cy="7810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17" y="2400607"/>
            <a:ext cx="5153483" cy="183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63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69900" y="584983"/>
            <a:ext cx="8051800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Assetfinder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Used to discover subdomains associated with a target domain.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Queries multiple public sources like: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•  Certificate Transparency logs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•  Threat intelligence APIs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•  DNS-related services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assetfinder</a:t>
            </a:r>
            <a:r>
              <a:rPr lang="en-US" altLang="en-US" sz="1800" dirty="0">
                <a:latin typeface="Arial" panose="020B0604020202020204" pitchFamily="34" charset="0"/>
              </a:rPr>
              <a:t> --subs-only </a:t>
            </a:r>
            <a:r>
              <a:rPr lang="en-US" altLang="en-US" sz="1800" dirty="0" smtClean="0">
                <a:latin typeface="Arial" panose="020B0604020202020204" pitchFamily="34" charset="0"/>
              </a:rPr>
              <a:t>hackthissite</a:t>
            </a:r>
            <a:r>
              <a:rPr lang="en-US" altLang="en-US" sz="1800" dirty="0" smtClean="0">
                <a:latin typeface="Arial" panose="020B0604020202020204" pitchFamily="34" charset="0"/>
              </a:rPr>
              <a:t>.com </a:t>
            </a:r>
            <a:r>
              <a:rPr lang="en-US" altLang="en-US" sz="1800" dirty="0">
                <a:latin typeface="Arial" panose="020B0604020202020204" pitchFamily="34" charset="0"/>
              </a:rPr>
              <a:t>| tee </a:t>
            </a:r>
            <a:r>
              <a:rPr lang="en-US" altLang="en-US" sz="1800" dirty="0" smtClean="0">
                <a:latin typeface="Arial" panose="020B0604020202020204" pitchFamily="34" charset="0"/>
              </a:rPr>
              <a:t>subs.txt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assetfinder</a:t>
            </a:r>
            <a:r>
              <a:rPr lang="en-US" altLang="en-US" sz="1800" dirty="0">
                <a:latin typeface="Arial" panose="020B0604020202020204" pitchFamily="34" charset="0"/>
              </a:rPr>
              <a:t> --subs-only </a:t>
            </a:r>
            <a:r>
              <a:rPr lang="en-US" altLang="en-US" sz="1800" dirty="0">
                <a:latin typeface="Arial" panose="020B0604020202020204" pitchFamily="34" charset="0"/>
              </a:rPr>
              <a:t>hackthissite.com &gt; </a:t>
            </a:r>
            <a:r>
              <a:rPr lang="en-US" altLang="en-US" sz="1800" dirty="0">
                <a:latin typeface="Arial" panose="020B0604020202020204" pitchFamily="34" charset="0"/>
              </a:rPr>
              <a:t>assetfinder.txt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--subs-only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Outputs only subdomains of the target domain.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Prevents unrelated domains from polluting results.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Different data sources.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Used for cross-verification.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2758840"/>
            <a:ext cx="5382376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481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825500"/>
            <a:ext cx="10058400" cy="5127244"/>
          </a:xfrm>
        </p:spPr>
        <p:txBody>
          <a:bodyPr>
            <a:normAutofit/>
          </a:bodyPr>
          <a:lstStyle/>
          <a:p>
            <a:r>
              <a:rPr lang="en-US" b="1" dirty="0"/>
              <a:t>Amass (Passive) </a:t>
            </a:r>
          </a:p>
          <a:p>
            <a:r>
              <a:rPr lang="en-US" b="1" dirty="0"/>
              <a:t>Discovering and organizing all externally exposed assets of a target.</a:t>
            </a:r>
          </a:p>
          <a:p>
            <a:r>
              <a:rPr lang="en-US" b="1" dirty="0"/>
              <a:t>In simple terms: it helps us discover </a:t>
            </a:r>
            <a:r>
              <a:rPr lang="en-US" dirty="0"/>
              <a:t>domains, subdomains, IPs, ASN info, and infrastructure relationships</a:t>
            </a:r>
            <a:r>
              <a:rPr lang="en-US" b="1" dirty="0"/>
              <a:t> for a target organization.</a:t>
            </a:r>
          </a:p>
          <a:p>
            <a:r>
              <a:rPr lang="en-US" dirty="0"/>
              <a:t>·  Servers</a:t>
            </a:r>
          </a:p>
          <a:p>
            <a:r>
              <a:rPr lang="en-US" dirty="0"/>
              <a:t>·  IP addresses</a:t>
            </a:r>
          </a:p>
          <a:p>
            <a:r>
              <a:rPr lang="en-US" dirty="0"/>
              <a:t>·  Cloud platforms</a:t>
            </a:r>
          </a:p>
          <a:p>
            <a:r>
              <a:rPr lang="en-US" dirty="0"/>
              <a:t>·  DNS servers</a:t>
            </a:r>
          </a:p>
          <a:p>
            <a:r>
              <a:rPr lang="en-US" dirty="0"/>
              <a:t>·  Load balancers</a:t>
            </a:r>
          </a:p>
          <a:p>
            <a:r>
              <a:rPr lang="en-US" dirty="0"/>
              <a:t>·  CDNs</a:t>
            </a:r>
          </a:p>
          <a:p>
            <a:r>
              <a:rPr lang="en-US" dirty="0"/>
              <a:t>·  Email servers</a:t>
            </a:r>
          </a:p>
          <a:p>
            <a:r>
              <a:rPr lang="en-US" dirty="0"/>
              <a:t>·  Databases</a:t>
            </a:r>
          </a:p>
          <a:p>
            <a:r>
              <a:rPr lang="en-US" dirty="0"/>
              <a:t>·  Hosting providers</a:t>
            </a:r>
          </a:p>
          <a:p>
            <a:r>
              <a:rPr lang="en-US" b="1" dirty="0"/>
              <a:t>amass </a:t>
            </a:r>
            <a:r>
              <a:rPr lang="en-US" b="1" dirty="0" err="1"/>
              <a:t>enum</a:t>
            </a:r>
            <a:r>
              <a:rPr lang="en-US" b="1" dirty="0"/>
              <a:t> -passive -d target.com -o amass.txt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48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420" y="996215"/>
            <a:ext cx="9272337" cy="5609122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Gather </a:t>
            </a:r>
            <a:r>
              <a:rPr lang="en-US" dirty="0"/>
              <a:t>broader datasets.</a:t>
            </a:r>
          </a:p>
          <a:p>
            <a:r>
              <a:rPr lang="en-US" dirty="0"/>
              <a:t>Often discovers additional domains.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20" y="657087"/>
            <a:ext cx="6392167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4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863600"/>
            <a:ext cx="10058400" cy="5089144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🧠 </a:t>
            </a:r>
            <a:r>
              <a:rPr lang="en-US" dirty="0"/>
              <a:t>Why Amass Keeps </a:t>
            </a:r>
            <a:r>
              <a:rPr lang="en-US" dirty="0" smtClean="0"/>
              <a:t>Going(take longer time)</a:t>
            </a:r>
            <a:endParaRPr lang="en-US" dirty="0"/>
          </a:p>
          <a:p>
            <a:r>
              <a:rPr lang="en-US" dirty="0"/>
              <a:t>Even in --passive mode, Amass:</a:t>
            </a:r>
          </a:p>
          <a:p>
            <a:r>
              <a:rPr lang="en-US" dirty="0"/>
              <a:t>•	Queries dozens of OSINT data sources</a:t>
            </a:r>
          </a:p>
          <a:p>
            <a:r>
              <a:rPr lang="en-US" dirty="0"/>
              <a:t>•	Pulls certificate transparency logs</a:t>
            </a:r>
          </a:p>
          <a:p>
            <a:r>
              <a:rPr lang="en-US" dirty="0"/>
              <a:t>•	Checks reverse DNS</a:t>
            </a:r>
          </a:p>
          <a:p>
            <a:r>
              <a:rPr lang="en-US" dirty="0"/>
              <a:t>•	Resolves discovered subdomains</a:t>
            </a:r>
          </a:p>
          <a:p>
            <a:r>
              <a:rPr lang="en-US" dirty="0"/>
              <a:t>•	Maps ASN + </a:t>
            </a:r>
            <a:r>
              <a:rPr lang="en-US" dirty="0" err="1"/>
              <a:t>netblocks</a:t>
            </a:r>
            <a:endParaRPr lang="en-US" dirty="0"/>
          </a:p>
          <a:p>
            <a:r>
              <a:rPr lang="en-US" dirty="0"/>
              <a:t>•	Recursively expands findings</a:t>
            </a:r>
          </a:p>
          <a:p>
            <a:r>
              <a:rPr lang="en-US" dirty="0"/>
              <a:t>For a large enterprise like </a:t>
            </a:r>
            <a:r>
              <a:rPr lang="en-US" dirty="0" err="1"/>
              <a:t>Robinhood</a:t>
            </a:r>
            <a:r>
              <a:rPr lang="en-US" dirty="0"/>
              <a:t>, that can mean:</a:t>
            </a:r>
          </a:p>
          <a:p>
            <a:r>
              <a:rPr lang="en-US" dirty="0"/>
              <a:t>•	Thousands of historical records</a:t>
            </a:r>
          </a:p>
          <a:p>
            <a:r>
              <a:rPr lang="en-US" dirty="0"/>
              <a:t>•	CDN expansions</a:t>
            </a:r>
          </a:p>
          <a:p>
            <a:r>
              <a:rPr lang="en-US" dirty="0"/>
              <a:t>•	Multiple AWS accounts</a:t>
            </a:r>
          </a:p>
          <a:p>
            <a:r>
              <a:rPr lang="en-US" dirty="0"/>
              <a:t>•	Delegated subdomains</a:t>
            </a:r>
          </a:p>
          <a:p>
            <a:r>
              <a:rPr lang="en-US" dirty="0"/>
              <a:t>It can run 10–30+ minutes depending on:</a:t>
            </a:r>
          </a:p>
          <a:p>
            <a:r>
              <a:rPr lang="en-US" dirty="0"/>
              <a:t>•	Internet speed</a:t>
            </a:r>
          </a:p>
          <a:p>
            <a:r>
              <a:rPr lang="en-US" dirty="0"/>
              <a:t>•	API limits</a:t>
            </a:r>
          </a:p>
          <a:p>
            <a:r>
              <a:rPr lang="en-US" dirty="0"/>
              <a:t>•	Number of sources enabled</a:t>
            </a:r>
          </a:p>
          <a:p>
            <a:r>
              <a:rPr lang="en-US" dirty="0"/>
              <a:t>•	Target size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387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02368"/>
            <a:ext cx="10058400" cy="5050376"/>
          </a:xfrm>
        </p:spPr>
        <p:txBody>
          <a:bodyPr>
            <a:normAutofit/>
          </a:bodyPr>
          <a:lstStyle/>
          <a:p>
            <a:r>
              <a:rPr lang="en-US" dirty="0"/>
              <a:t>Merge Results</a:t>
            </a:r>
          </a:p>
          <a:p>
            <a:r>
              <a:rPr lang="en-US" dirty="0"/>
              <a:t>cat subfinder.txt assetfinder.txt amass.txt | sort -u &gt; master_subdomains.txt</a:t>
            </a:r>
          </a:p>
          <a:p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cat </a:t>
            </a:r>
            <a:r>
              <a:rPr lang="en-US" dirty="0"/>
              <a:t>master_subdomains.txt</a:t>
            </a:r>
          </a:p>
          <a:p>
            <a:r>
              <a:rPr lang="en-US" dirty="0"/>
              <a:t> 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822" y="1709694"/>
            <a:ext cx="6315956" cy="6192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037" y="2885266"/>
            <a:ext cx="6449325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781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413266"/>
            <a:ext cx="10740190" cy="6254233"/>
          </a:xfrm>
        </p:spPr>
        <p:txBody>
          <a:bodyPr>
            <a:normAutofit/>
          </a:bodyPr>
          <a:lstStyle/>
          <a:p>
            <a:r>
              <a:rPr lang="en-US" dirty="0"/>
              <a:t>sort –u Removes duplicates, Sorts entries alphabetically</a:t>
            </a:r>
          </a:p>
          <a:p>
            <a:r>
              <a:rPr lang="en-US" dirty="0"/>
              <a:t>Creates single clean attack surface list. In totality we merged the results from our three tools ,</a:t>
            </a:r>
            <a:r>
              <a:rPr lang="en-US" dirty="0" err="1"/>
              <a:t>subfinder</a:t>
            </a:r>
            <a:r>
              <a:rPr lang="en-US" dirty="0"/>
              <a:t>, amass, </a:t>
            </a:r>
            <a:r>
              <a:rPr lang="en-US" dirty="0" err="1"/>
              <a:t>assetfinder</a:t>
            </a:r>
            <a:r>
              <a:rPr lang="en-US" dirty="0"/>
              <a:t>. Let’s try more tools to get more subdomains </a:t>
            </a:r>
          </a:p>
          <a:p>
            <a:r>
              <a:rPr lang="en-US" b="1" dirty="0"/>
              <a:t>Count Unique Assets</a:t>
            </a:r>
          </a:p>
          <a:p>
            <a:r>
              <a:rPr lang="en-US" altLang="en-US" sz="1600" dirty="0" err="1">
                <a:solidFill>
                  <a:srgbClr val="C4591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wc</a:t>
            </a:r>
            <a:r>
              <a:rPr lang="en-US" altLang="en-US" sz="1600" dirty="0">
                <a:solidFill>
                  <a:srgbClr val="C4591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-l </a:t>
            </a:r>
            <a:r>
              <a:rPr lang="en-US" altLang="en-US" sz="1600" dirty="0" smtClean="0">
                <a:solidFill>
                  <a:srgbClr val="C4591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master_subdomains.txt</a:t>
            </a:r>
          </a:p>
          <a:p>
            <a:r>
              <a:rPr lang="en-US" altLang="en-US" sz="1600" dirty="0" err="1" smtClean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wc</a:t>
            </a:r>
            <a:r>
              <a:rPr lang="en-US" altLang="en-US" sz="1600" dirty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</a:t>
            </a:r>
            <a:r>
              <a:rPr lang="en-US" altLang="en-US" sz="1600" dirty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 Counts lines, words, or bytes in a file.</a:t>
            </a:r>
            <a:r>
              <a:rPr lang="en-US" altLang="en-US" sz="1600" dirty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-</a:t>
            </a:r>
            <a:r>
              <a:rPr lang="en-US" altLang="en-US" sz="1600" dirty="0" smtClean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l</a:t>
            </a:r>
          </a:p>
          <a:p>
            <a:r>
              <a:rPr lang="en-US" altLang="en-US" sz="1600" dirty="0" smtClean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-</a:t>
            </a:r>
            <a:r>
              <a:rPr lang="en-US" altLang="en-US" sz="1600" dirty="0" err="1" smtClean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i</a:t>
            </a:r>
            <a:r>
              <a:rPr lang="en-US" altLang="en-US" sz="1600" dirty="0" smtClean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altLang="en-US" sz="1600" dirty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</a:t>
            </a:r>
            <a:r>
              <a:rPr lang="en-US" altLang="en-US" sz="1600" dirty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 Counts number of lines in a file. </a:t>
            </a:r>
            <a:br>
              <a:rPr lang="en-US" altLang="en-US" sz="1600" dirty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Shows total entries in your list.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endParaRPr lang="en-US" altLang="en-US" sz="1600" dirty="0">
              <a:solidFill>
                <a:srgbClr val="D01ED4"/>
              </a:solidFill>
              <a:latin typeface="Arial Black" panose="020B0A04020102020204" pitchFamily="34" charset="0"/>
              <a:ea typeface="Times New Roman" panose="02020603050405020304" pitchFamily="18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endParaRPr lang="en-US" dirty="0" smtClean="0"/>
          </a:p>
          <a:p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457200" algn="l"/>
              </a:tabLst>
            </a:pP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here: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1034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 = number of </a:t>
            </a: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lines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 in the file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master_subdomain.txt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 = the file that was counted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457200" algn="l"/>
              </a:tabLst>
            </a:pP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There are </a:t>
            </a: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1034 lines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 inside </a:t>
            </a:r>
            <a:r>
              <a:rPr lang="en-US" altLang="en-US" sz="14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master_subdomain.txt</a:t>
            </a:r>
            <a:r>
              <a:rPr lang="en-US" altLang="en-US" sz="1400" dirty="0">
                <a:ea typeface="Times New Roman" panose="02020603050405020304" pitchFamily="18" charset="0"/>
              </a:rPr>
              <a:t>.</a:t>
            </a:r>
            <a:endParaRPr lang="en-US" altLang="en-US" sz="1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457200" algn="l"/>
              </a:tabLst>
            </a:pP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Shows real attack surface size.</a:t>
            </a:r>
            <a:b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Removes inflated numbers.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342900" y="2948940"/>
            <a:ext cx="6100010" cy="99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05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949325"/>
            <a:ext cx="10610850" cy="513359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 dirty="0" smtClean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Overlap </a:t>
            </a:r>
            <a:r>
              <a:rPr lang="en-US" altLang="en-US" sz="16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Check by combining multiple subdomain files</a:t>
            </a: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 dirty="0">
                <a:solidFill>
                  <a:srgbClr val="C4591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We will combine multiple subdomain files and process them to measure how often each subdomain appears across sources.</a:t>
            </a: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200" dirty="0">
                <a:solidFill>
                  <a:srgbClr val="ED7D3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sort subfinder.txt assetfinder.txt amass.txt | </a:t>
            </a:r>
            <a:r>
              <a:rPr lang="en-US" altLang="en-US" sz="1200" dirty="0" err="1">
                <a:solidFill>
                  <a:srgbClr val="ED7D3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uniq</a:t>
            </a:r>
            <a:r>
              <a:rPr lang="en-US" altLang="en-US" sz="1200" dirty="0">
                <a:solidFill>
                  <a:srgbClr val="ED7D3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-c | sort -</a:t>
            </a:r>
            <a:r>
              <a:rPr lang="en-US" altLang="en-US" sz="1200" dirty="0" err="1">
                <a:solidFill>
                  <a:srgbClr val="ED7D3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nr</a:t>
            </a:r>
            <a:r>
              <a:rPr lang="en-US" altLang="en-US" sz="1200" dirty="0">
                <a:solidFill>
                  <a:srgbClr val="ED7D3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| head</a:t>
            </a:r>
            <a:r>
              <a:rPr lang="en-US" altLang="en-US" sz="1200" dirty="0"/>
              <a:t> </a:t>
            </a:r>
            <a:endParaRPr lang="en-US" altLang="en-US" sz="12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  <a:t>Higher repetition = higher confidence.</a:t>
            </a:r>
            <a:br>
              <a:rPr lang="en-US" alt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alt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  <a:t>Single-source findings need validation.</a:t>
            </a:r>
            <a:endParaRPr lang="en-US" altLang="en-US" sz="1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400" b="1" dirty="0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US" alt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Orders lines alphabetically.</a:t>
            </a:r>
            <a:br>
              <a:rPr lang="en-US" alt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Organizes data for processing</a:t>
            </a:r>
            <a:r>
              <a:rPr lang="en-US" altLang="en-US" sz="14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r>
              <a:rPr lang="en-US" altLang="en-US" sz="1600" b="1" dirty="0" err="1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uniq</a:t>
            </a:r>
            <a:r>
              <a:rPr lang="en-US" altLang="en-US" sz="1600" b="1" dirty="0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-c</a:t>
            </a:r>
            <a:r>
              <a:rPr lang="en-US" alt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Counts duplicate occurrences of each line.</a:t>
            </a:r>
            <a:br>
              <a:rPr lang="en-US" alt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Shows how many times each subdomain appears.</a:t>
            </a:r>
            <a:endParaRPr lang="en-US" altLang="en-US" sz="1400" dirty="0"/>
          </a:p>
          <a:p>
            <a:r>
              <a:rPr lang="en-US" altLang="en-US" sz="1600" b="1" dirty="0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 -</a:t>
            </a:r>
            <a:r>
              <a:rPr lang="en-US" altLang="en-US" sz="1600" b="1" dirty="0" err="1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nr</a:t>
            </a:r>
            <a:r>
              <a:rPr lang="en-US" alt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Sorts numerically in descending order.</a:t>
            </a:r>
            <a:br>
              <a:rPr lang="en-US" alt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Shows highest duplicate counts first.</a:t>
            </a:r>
            <a:endParaRPr lang="en-US" altLang="en-US" sz="1600" dirty="0">
              <a:ea typeface="Times New Roman" panose="02020603050405020304" pitchFamily="18" charset="0"/>
            </a:endParaRPr>
          </a:p>
          <a:p>
            <a:r>
              <a:rPr lang="en-US" altLang="en-US" sz="1600" b="1" dirty="0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US" alt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Shows first 10 lines of output by default.</a:t>
            </a:r>
            <a:br>
              <a:rPr lang="en-US" alt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Displays top results only.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57200"/>
            <a:ext cx="12192000" cy="17463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931863"/>
            <a:ext cx="12192000" cy="17462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72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590550"/>
            <a:ext cx="10058400" cy="5362194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‘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We did this step to </a:t>
            </a:r>
            <a:r>
              <a:rPr lang="en-US" b="1" dirty="0" smtClean="0"/>
              <a:t>prioritize and validate our recon data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Combined multiple files, count repetition= Which assets are more likely real and important.</a:t>
            </a: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588951"/>
            <a:ext cx="6154009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37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Part 2 </a:t>
            </a:r>
            <a:r>
              <a:rPr lang="en-US" sz="2400" dirty="0"/>
              <a:t>Use </a:t>
            </a:r>
            <a:r>
              <a:rPr lang="en-US" sz="2400" b="1" dirty="0"/>
              <a:t>DNS Dumpster</a:t>
            </a:r>
            <a:r>
              <a:rPr lang="en-US" sz="2400" dirty="0"/>
              <a:t> and </a:t>
            </a:r>
            <a:r>
              <a:rPr lang="en-US" sz="2400" b="1" dirty="0"/>
              <a:t>CRT.sh</a:t>
            </a:r>
            <a:r>
              <a:rPr lang="en-US" sz="2400" dirty="0"/>
              <a:t> to find historical subdomains and SSL certificate leaks. </a:t>
            </a:r>
            <a:br>
              <a:rPr lang="en-US" sz="2400" dirty="0"/>
            </a:br>
            <a:r>
              <a:rPr lang="en-US" sz="2400" dirty="0"/>
              <a:t>○ Identify "hidden" assets that are not indexed by search engines. 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77340"/>
            <a:ext cx="10058400" cy="4375404"/>
          </a:xfrm>
        </p:spPr>
        <p:txBody>
          <a:bodyPr/>
          <a:lstStyle/>
          <a:p>
            <a:r>
              <a:rPr lang="en-US" dirty="0"/>
              <a:t>crt.sh queries </a:t>
            </a:r>
            <a:r>
              <a:rPr lang="en-US" b="1" dirty="0"/>
              <a:t>Certificate Transparency logs</a:t>
            </a:r>
            <a:r>
              <a:rPr lang="en-US" dirty="0"/>
              <a:t> to extract:</a:t>
            </a:r>
          </a:p>
          <a:p>
            <a:pPr lvl="0"/>
            <a:r>
              <a:rPr lang="en-US" dirty="0"/>
              <a:t>Subdomains</a:t>
            </a:r>
          </a:p>
          <a:p>
            <a:pPr lvl="0"/>
            <a:r>
              <a:rPr lang="en-US" dirty="0"/>
              <a:t>Historical domains</a:t>
            </a:r>
          </a:p>
          <a:p>
            <a:pPr lvl="0"/>
            <a:r>
              <a:rPr lang="en-US" dirty="0"/>
              <a:t>Staging environments</a:t>
            </a:r>
          </a:p>
          <a:p>
            <a:pPr lvl="0"/>
            <a:r>
              <a:rPr lang="en-US" dirty="0"/>
              <a:t>Forgotten assets</a:t>
            </a:r>
          </a:p>
          <a:p>
            <a:pPr lvl="0"/>
            <a:r>
              <a:rPr lang="en-US" dirty="0"/>
              <a:t>Wildcard certificates</a:t>
            </a:r>
          </a:p>
          <a:p>
            <a:pPr lvl="0"/>
            <a:r>
              <a:rPr lang="en-US" dirty="0"/>
              <a:t>Internal naming </a:t>
            </a:r>
            <a:r>
              <a:rPr lang="en-US" dirty="0" smtClean="0"/>
              <a:t>leaks</a:t>
            </a:r>
          </a:p>
          <a:p>
            <a:pPr lvl="0"/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crt_v2.sh </a:t>
            </a:r>
            <a:r>
              <a:rPr lang="en-US" dirty="0" smtClean="0">
                <a:solidFill>
                  <a:srgbClr val="FF0000"/>
                </a:solidFill>
              </a:rPr>
              <a:t>–d hackthissite.com </a:t>
            </a:r>
            <a:r>
              <a:rPr lang="en-US" dirty="0">
                <a:solidFill>
                  <a:srgbClr val="FF0000"/>
                </a:solidFill>
              </a:rPr>
              <a:t>&gt; </a:t>
            </a:r>
            <a:r>
              <a:rPr lang="en-US" dirty="0" smtClean="0">
                <a:solidFill>
                  <a:srgbClr val="FF0000"/>
                </a:solidFill>
              </a:rPr>
              <a:t>crt_hack.txt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657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DNS Dumpster</a:t>
            </a:r>
            <a:r>
              <a:rPr lang="en-US" altLang="en-US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9231" y="1704536"/>
            <a:ext cx="10058400" cy="3849624"/>
          </a:xfrm>
        </p:spPr>
        <p:txBody>
          <a:bodyPr>
            <a:normAutofit fontScale="3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44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Go </a:t>
            </a:r>
            <a:r>
              <a:rPr lang="en-US" altLang="en-US" sz="4400" dirty="0">
                <a:latin typeface="Arial" panose="020B0604020202020204" pitchFamily="34" charset="0"/>
                <a:ea typeface="Times New Roman" panose="02020603050405020304" pitchFamily="18" charset="0"/>
              </a:rPr>
              <a:t>to:</a:t>
            </a:r>
            <a:endParaRPr lang="en-US" altLang="en-US" sz="4400" dirty="0">
              <a:solidFill>
                <a:srgbClr val="00B050"/>
              </a:solidFill>
              <a:latin typeface="Arial Unicode MS"/>
              <a:ea typeface="Times New Roman" panose="02020603050405020304" pitchFamily="18" charset="0"/>
              <a:cs typeface="Courier New" panose="02070309020205020404" pitchFamily="49" charset="0"/>
              <a:hlinkClick r:id="rId2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4400" dirty="0">
                <a:solidFill>
                  <a:srgbClr val="00B05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  <a:hlinkClick r:id="rId2"/>
              </a:rPr>
              <a:t>https://dnsdumpster.com</a:t>
            </a:r>
            <a:r>
              <a:rPr lang="en-US" altLang="en-US" sz="4400" dirty="0">
                <a:solidFill>
                  <a:srgbClr val="00B05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en-US" altLang="en-US" sz="4400" dirty="0"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4400" dirty="0">
                <a:latin typeface="Arial" panose="020B0604020202020204" pitchFamily="34" charset="0"/>
                <a:ea typeface="Times New Roman" panose="02020603050405020304" pitchFamily="18" charset="0"/>
              </a:rPr>
              <a:t>Search:</a:t>
            </a:r>
            <a:endParaRPr lang="en-US" altLang="en-US" sz="4400" dirty="0">
              <a:solidFill>
                <a:srgbClr val="C45911"/>
              </a:solidFill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4400" dirty="0">
                <a:solidFill>
                  <a:srgbClr val="C4591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target.com</a:t>
            </a:r>
            <a:r>
              <a:rPr lang="en-US" altLang="en-US" sz="4400" dirty="0"/>
              <a:t> </a:t>
            </a:r>
            <a:endParaRPr lang="en-US" altLang="en-US" sz="4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4400" dirty="0">
                <a:latin typeface="Arial" panose="020B0604020202020204" pitchFamily="34" charset="0"/>
                <a:ea typeface="Times New Roman" panose="02020603050405020304" pitchFamily="18" charset="0"/>
              </a:rPr>
              <a:t>Download / copy the </a:t>
            </a:r>
            <a:r>
              <a:rPr lang="en-US" altLang="en-US" sz="4400" b="1" dirty="0">
                <a:latin typeface="Arial" panose="020B0604020202020204" pitchFamily="34" charset="0"/>
                <a:ea typeface="Times New Roman" panose="02020603050405020304" pitchFamily="18" charset="0"/>
              </a:rPr>
              <a:t>Subdomain list</a:t>
            </a:r>
            <a:r>
              <a:rPr lang="en-US" altLang="en-US" sz="4400" dirty="0">
                <a:latin typeface="Arial" panose="020B0604020202020204" pitchFamily="34" charset="0"/>
                <a:ea typeface="Times New Roman" panose="02020603050405020304" pitchFamily="18" charset="0"/>
              </a:rPr>
              <a:t> → save as:</a:t>
            </a:r>
            <a:endParaRPr lang="en-US" altLang="en-US" sz="4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4400" dirty="0" smtClean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Dnsdumpster.xlsx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4400" dirty="0" smtClean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Then install in Kali </a:t>
            </a:r>
            <a:r>
              <a:rPr lang="en-US" altLang="en-US" sz="4400" dirty="0" err="1" smtClean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linux</a:t>
            </a:r>
            <a:endParaRPr lang="en-US" altLang="en-US" sz="4400" dirty="0" smtClean="0">
              <a:solidFill>
                <a:srgbClr val="00B0F0"/>
              </a:solidFill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4400" dirty="0" err="1" smtClean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sudo</a:t>
            </a:r>
            <a:r>
              <a:rPr lang="en-US" altLang="en-US" sz="4400" dirty="0" smtClean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4400" dirty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apt install xlsx2csv </a:t>
            </a:r>
            <a:r>
              <a:rPr lang="en-US" altLang="en-US" sz="4400" dirty="0" smtClean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–y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4400" dirty="0">
              <a:solidFill>
                <a:srgbClr val="00B0F0"/>
              </a:solidFill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4400" dirty="0" smtClean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xlsx2csv </a:t>
            </a:r>
            <a:r>
              <a:rPr lang="en-US" altLang="en-US" sz="4400" dirty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-a robinhood.xlsx &gt; </a:t>
            </a:r>
            <a:r>
              <a:rPr lang="en-US" altLang="en-US" sz="4400" dirty="0" smtClean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all_sheets.csv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4400" dirty="0" smtClean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After Conversion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4400" dirty="0" err="1" smtClean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grep</a:t>
            </a:r>
            <a:r>
              <a:rPr lang="en-US" altLang="en-US" sz="4400" dirty="0" smtClean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4400" dirty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</a:t>
            </a:r>
            <a:r>
              <a:rPr lang="en-US" altLang="en-US" sz="4400" dirty="0" err="1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oE</a:t>
            </a:r>
            <a:r>
              <a:rPr lang="en-US" altLang="en-US" sz="4400" dirty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"[a-zA-Z0-9.-]+\.</a:t>
            </a:r>
            <a:r>
              <a:rPr lang="en-US" altLang="en-US" sz="4400" dirty="0" err="1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robinhood</a:t>
            </a:r>
            <a:r>
              <a:rPr lang="en-US" altLang="en-US" sz="4400" dirty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\.com" all_sheets.csv | sort -u &gt; dnsdump_robinhood.txt</a:t>
            </a:r>
            <a:r>
              <a:rPr lang="en-US" altLang="en-US" sz="4400" dirty="0"/>
              <a:t> </a:t>
            </a:r>
            <a:endParaRPr lang="en-US" altLang="en-US" sz="4400" dirty="0">
              <a:latin typeface="Arial" panose="020B0604020202020204" pitchFamily="34" charset="0"/>
            </a:endParaRPr>
          </a:p>
          <a:p>
            <a:r>
              <a:rPr lang="en-US" altLang="en-US" sz="44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combine safely all</a:t>
            </a:r>
            <a:r>
              <a:rPr lang="en-US" altLang="en-US" sz="4400" dirty="0" smtClean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</a:p>
          <a:p>
            <a:r>
              <a:rPr lang="en-US" altLang="en-US" sz="4400" dirty="0" smtClean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cat </a:t>
            </a:r>
            <a:r>
              <a:rPr lang="en-US" altLang="en-US" sz="4400" dirty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dnsdump_robinhood.txt robinsub.txt robinasset.txt robinamass.txt crt_robin.txt | sort -u &gt; </a:t>
            </a:r>
            <a:r>
              <a:rPr lang="en-US" altLang="en-US" sz="4400" dirty="0" smtClean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combined.txt</a:t>
            </a:r>
          </a:p>
          <a:p>
            <a:r>
              <a:rPr lang="en-US" altLang="en-US" sz="4400" dirty="0" smtClean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OR</a:t>
            </a:r>
          </a:p>
          <a:p>
            <a:r>
              <a:rPr lang="en-US" altLang="en-US" sz="4400" dirty="0" smtClean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cat </a:t>
            </a:r>
            <a:r>
              <a:rPr lang="en-US" altLang="en-US" sz="4400" dirty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master_subdomain.txt dnsdumpster.txt | sort -u &gt; attack_surface.txt</a:t>
            </a:r>
            <a:r>
              <a:rPr lang="en-US" altLang="en-US" sz="4400" dirty="0"/>
              <a:t> </a:t>
            </a:r>
            <a:endParaRPr lang="en-US" altLang="en-US" sz="44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243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We Use </a:t>
            </a: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DNS Dumpster</a:t>
            </a:r>
            <a:r>
              <a:rPr lang="en-US" altLang="en-US" dirty="0" smtClean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2800" dirty="0" smtClean="0">
                <a:solidFill>
                  <a:srgbClr val="D01ED4"/>
                </a:solidFill>
                <a:ea typeface="Times New Roman" panose="02020603050405020304" pitchFamily="18" charset="0"/>
              </a:rPr>
              <a:t>Pulls </a:t>
            </a:r>
            <a:r>
              <a:rPr lang="en-US" altLang="en-US" sz="2800" dirty="0">
                <a:solidFill>
                  <a:srgbClr val="D01ED4"/>
                </a:solidFill>
                <a:ea typeface="Times New Roman" panose="02020603050405020304" pitchFamily="18" charset="0"/>
              </a:rPr>
              <a:t>DNS records</a:t>
            </a:r>
            <a:endParaRPr lang="en-US" altLang="en-US" sz="2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2800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Sometimes finds subdomains tools miss</a:t>
            </a:r>
            <a:r>
              <a:rPr lang="en-US" altLang="en-US" sz="2800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800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Shows </a:t>
            </a:r>
            <a:r>
              <a:rPr lang="en-US" altLang="en-US" sz="2800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related IP infrastructure.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800" dirty="0" smtClean="0">
              <a:solidFill>
                <a:srgbClr val="2E74B5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800" dirty="0" smtClean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altLang="en-US" sz="28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Master List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cat final_master.txt dnsdumpster.txt | sort -u &gt; attack_surface.txt</a:t>
            </a:r>
            <a:r>
              <a:rPr lang="en-US" altLang="en-US" sz="2000" dirty="0"/>
              <a:t> </a:t>
            </a:r>
            <a:endParaRPr lang="en-US" altLang="en-US" sz="2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Now this is your expanded dataset</a:t>
            </a:r>
            <a:r>
              <a:rPr lang="en-US" altLang="en-US" sz="2400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57200"/>
            <a:ext cx="12192000" cy="17463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44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02 – Infrastructure &amp; Tech </a:t>
            </a:r>
            <a:r>
              <a:rPr lang="en-US" b="1" dirty="0" smtClean="0"/>
              <a:t>Profiling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457200" algn="l"/>
              </a:tabLst>
            </a:pPr>
            <a:r>
              <a:rPr lang="en-US" altLang="en-US" sz="1800" b="1" dirty="0" err="1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WhatWeb</a:t>
            </a:r>
            <a:endParaRPr lang="en-US" altLang="en-US" sz="18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457200" algn="l"/>
              </a:tabLst>
            </a:pPr>
            <a:r>
              <a:rPr lang="en-US" altLang="en-US" sz="1800" dirty="0" err="1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whatweb</a:t>
            </a:r>
            <a:r>
              <a:rPr lang="en-US" altLang="en-US" sz="1800" dirty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800" dirty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  <a:hlinkClick r:id="rId2"/>
              </a:rPr>
              <a:t>https://sub.target.com</a:t>
            </a:r>
            <a:r>
              <a:rPr lang="en-US" altLang="en-US" sz="1800" dirty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en-US" altLang="en-US" sz="1800" dirty="0"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Web Server (Apache, Nginx, IIS)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CMS (WordPress, Drupal, Joomla)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Frameworks (</a:t>
            </a:r>
            <a:r>
              <a:rPr lang="en-US" altLang="en-US" sz="1800" dirty="0" err="1">
                <a:latin typeface="Arial" panose="020B0604020202020204" pitchFamily="34" charset="0"/>
                <a:ea typeface="Times New Roman" panose="02020603050405020304" pitchFamily="18" charset="0"/>
              </a:rPr>
              <a:t>Laravel</a:t>
            </a: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, Django, React)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Analytics &amp; tracking tools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CDN usage</a:t>
            </a:r>
            <a:endParaRPr lang="en-US" altLang="en-US" sz="18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457200" algn="l"/>
              </a:tabLst>
            </a:pPr>
            <a:r>
              <a:rPr lang="en-US" altLang="en-U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Why it matters: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457200" algn="l"/>
              </a:tabLst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If you detect: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WordPress → Plugin vulnerabilities become relevant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800" dirty="0" err="1">
                <a:latin typeface="Arial" panose="020B0604020202020204" pitchFamily="34" charset="0"/>
                <a:ea typeface="Times New Roman" panose="02020603050405020304" pitchFamily="18" charset="0"/>
              </a:rPr>
              <a:t>Laravel</a:t>
            </a: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 → Look for .</a:t>
            </a:r>
            <a:r>
              <a:rPr lang="en-US" altLang="en-US" sz="1800" dirty="0" err="1">
                <a:latin typeface="Arial" panose="020B0604020202020204" pitchFamily="34" charset="0"/>
                <a:ea typeface="Times New Roman" panose="02020603050405020304" pitchFamily="18" charset="0"/>
              </a:rPr>
              <a:t>env</a:t>
            </a: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 exposure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Apache + outdated version → Known CVEs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800" dirty="0" err="1">
                <a:latin typeface="Arial" panose="020B0604020202020204" pitchFamily="34" charset="0"/>
                <a:ea typeface="Times New Roman" panose="02020603050405020304" pitchFamily="18" charset="0"/>
              </a:rPr>
              <a:t>Cloudflare</a:t>
            </a: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 → Real IP discovery needed</a:t>
            </a:r>
            <a:endParaRPr lang="en-US" altLang="en-US" sz="18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254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66800" y="438149"/>
            <a:ext cx="10058400" cy="5933153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b="1" dirty="0" err="1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Wappalyzer</a:t>
            </a:r>
            <a:r>
              <a:rPr lang="en-US" altLang="en-US" sz="20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000" b="1" dirty="0" smtClean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CLI</a:t>
            </a:r>
            <a:endParaRPr lang="en-US" altLang="en-US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 err="1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wappalyzer</a:t>
            </a:r>
            <a:r>
              <a:rPr lang="en-US" altLang="en-US" sz="2000" dirty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--target https://www.google.com/ --disable-</a:t>
            </a:r>
            <a:r>
              <a:rPr lang="en-US" altLang="en-US" sz="2000" dirty="0" err="1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ssl</a:t>
            </a:r>
            <a:r>
              <a:rPr lang="en-US" altLang="en-US" sz="2000" dirty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--output output.txt </a:t>
            </a:r>
            <a:r>
              <a:rPr lang="en-US" altLang="en-US" sz="2000" dirty="0" smtClean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–</a:t>
            </a:r>
            <a:r>
              <a:rPr lang="en-US" altLang="en-US" sz="2000" dirty="0" err="1" smtClean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json</a:t>
            </a:r>
            <a:endParaRPr lang="en-US" altLang="en-US" sz="2000" dirty="0" smtClean="0">
              <a:solidFill>
                <a:srgbClr val="0070C0"/>
              </a:solidFill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Confirms </a:t>
            </a:r>
            <a:r>
              <a:rPr lang="en-US" altLang="en-US" sz="2000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tech stack</a:t>
            </a:r>
            <a:r>
              <a:rPr lang="en-US" altLang="en-US" sz="2000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r>
              <a:rPr lang="en-US" sz="2000" dirty="0"/>
              <a:t>Verifies what technologies the website is actually using (e.g., server, framework, CDN, analytics).</a:t>
            </a:r>
            <a:r>
              <a:rPr lang="en-US" altLang="en-US" sz="2000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2000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altLang="en-US" sz="2000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Cross-check fingerprint accuracy</a:t>
            </a:r>
            <a:r>
              <a:rPr lang="en-US" altLang="en-US" sz="2000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sz="2000" dirty="0"/>
              <a:t> Double-checks that the detected technologies are correct by comparing multiple indicators (headers, scripts, responses) to avoid false positives</a:t>
            </a:r>
            <a:r>
              <a:rPr lang="en-US" sz="2000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000" dirty="0">
              <a:solidFill>
                <a:schemeClr val="accent3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 smtClean="0">
                <a:solidFill>
                  <a:schemeClr val="accent3">
                    <a:lumMod val="75000"/>
                  </a:schemeClr>
                </a:solidFill>
                <a:latin typeface="Arial Black" panose="020B0A04020102020204" pitchFamily="34" charset="0"/>
              </a:rPr>
              <a:t>But if the </a:t>
            </a:r>
            <a:r>
              <a:rPr lang="en-US" altLang="en-US" sz="2000" dirty="0" err="1" smtClean="0">
                <a:solidFill>
                  <a:schemeClr val="accent3">
                    <a:lumMod val="75000"/>
                  </a:schemeClr>
                </a:solidFill>
                <a:latin typeface="Arial Black" panose="020B0A04020102020204" pitchFamily="34" charset="0"/>
              </a:rPr>
              <a:t>wappalyzer</a:t>
            </a:r>
            <a:r>
              <a:rPr lang="en-US" altLang="en-US" sz="2000" dirty="0" smtClean="0">
                <a:solidFill>
                  <a:schemeClr val="accent3">
                    <a:lumMod val="75000"/>
                  </a:schemeClr>
                </a:solidFill>
                <a:latin typeface="Arial Black" panose="020B0A04020102020204" pitchFamily="34" charset="0"/>
              </a:rPr>
              <a:t> doesn’t give correct result use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2000" dirty="0" smtClean="0"/>
              <a:t>Use </a:t>
            </a:r>
            <a:r>
              <a:rPr lang="en-US" sz="2000" dirty="0"/>
              <a:t>Node </a:t>
            </a:r>
            <a:r>
              <a:rPr lang="en-US" sz="2000" dirty="0" err="1" smtClean="0"/>
              <a:t>Wappalyzer</a:t>
            </a:r>
            <a:endParaRPr lang="en-US" sz="20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Install Node (if not installed):</a:t>
            </a:r>
            <a:endParaRPr lang="en-US" altLang="en-US" sz="18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 err="1">
                <a:latin typeface="Arial Unicode MS"/>
              </a:rPr>
              <a:t>sudo</a:t>
            </a:r>
            <a:r>
              <a:rPr lang="en-US" altLang="en-US" sz="2000" dirty="0">
                <a:latin typeface="Arial Unicode MS"/>
              </a:rPr>
              <a:t> apt install </a:t>
            </a:r>
            <a:r>
              <a:rPr lang="en-US" altLang="en-US" sz="2000" dirty="0" err="1">
                <a:latin typeface="Arial Unicode MS"/>
              </a:rPr>
              <a:t>nodejs</a:t>
            </a:r>
            <a:r>
              <a:rPr lang="en-US" altLang="en-US" sz="2000" dirty="0">
                <a:latin typeface="Arial Unicode MS"/>
              </a:rPr>
              <a:t> </a:t>
            </a:r>
            <a:r>
              <a:rPr lang="en-US" altLang="en-US" sz="2000" dirty="0" err="1">
                <a:latin typeface="Arial Unicode MS"/>
              </a:rPr>
              <a:t>npm</a:t>
            </a:r>
            <a:endParaRPr lang="en-US" altLang="en-US" sz="20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/>
              <a:t>Check version:</a:t>
            </a:r>
            <a:endParaRPr lang="en-US" altLang="en-US" sz="16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>
                <a:latin typeface="Arial Unicode MS"/>
              </a:rPr>
              <a:t>node -v</a:t>
            </a:r>
            <a:br>
              <a:rPr lang="en-US" altLang="en-US" sz="2000" dirty="0">
                <a:latin typeface="Arial Unicode MS"/>
              </a:rPr>
            </a:br>
            <a:r>
              <a:rPr lang="en-US" altLang="en-US" sz="2000" dirty="0" err="1">
                <a:latin typeface="Arial Unicode MS"/>
              </a:rPr>
              <a:t>npm</a:t>
            </a:r>
            <a:r>
              <a:rPr lang="en-US" altLang="en-US" sz="2000" dirty="0">
                <a:latin typeface="Arial Unicode MS"/>
              </a:rPr>
              <a:t> -v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/>
              <a:t>Now run:</a:t>
            </a:r>
            <a:endParaRPr lang="en-US" altLang="en-US" sz="20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 err="1">
                <a:latin typeface="Arial Unicode MS"/>
              </a:rPr>
              <a:t>npx</a:t>
            </a:r>
            <a:r>
              <a:rPr lang="en-US" altLang="en-US" sz="2000" dirty="0">
                <a:latin typeface="Arial Unicode MS"/>
              </a:rPr>
              <a:t> </a:t>
            </a:r>
            <a:r>
              <a:rPr lang="en-US" altLang="en-US" sz="2000" dirty="0" err="1">
                <a:latin typeface="Arial Unicode MS"/>
              </a:rPr>
              <a:t>wappalyzer</a:t>
            </a:r>
            <a:r>
              <a:rPr lang="en-US" altLang="en-US" sz="2000" dirty="0">
                <a:latin typeface="Arial Unicode MS"/>
              </a:rPr>
              <a:t> https://robinhood.com</a:t>
            </a:r>
            <a:endParaRPr lang="en-US" altLang="en-US" sz="4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000" dirty="0">
              <a:solidFill>
                <a:schemeClr val="accent3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151B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556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7831"/>
          <a:stretch/>
        </p:blipFill>
        <p:spPr>
          <a:xfrm>
            <a:off x="2091578" y="505687"/>
            <a:ext cx="7761082" cy="527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594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756284"/>
              </p:ext>
            </p:extLst>
          </p:nvPr>
        </p:nvGraphicFramePr>
        <p:xfrm>
          <a:off x="442451" y="1463039"/>
          <a:ext cx="11267768" cy="4819768"/>
        </p:xfrm>
        <a:graphic>
          <a:graphicData uri="http://schemas.openxmlformats.org/drawingml/2006/table">
            <a:tbl>
              <a:tblPr/>
              <a:tblGrid>
                <a:gridCol w="5633884">
                  <a:extLst>
                    <a:ext uri="{9D8B030D-6E8A-4147-A177-3AD203B41FA5}">
                      <a16:colId xmlns:a16="http://schemas.microsoft.com/office/drawing/2014/main" val="1621149827"/>
                    </a:ext>
                  </a:extLst>
                </a:gridCol>
                <a:gridCol w="5633884">
                  <a:extLst>
                    <a:ext uri="{9D8B030D-6E8A-4147-A177-3AD203B41FA5}">
                      <a16:colId xmlns:a16="http://schemas.microsoft.com/office/drawing/2014/main" val="260253939"/>
                    </a:ext>
                  </a:extLst>
                </a:gridCol>
              </a:tblGrid>
              <a:tr h="602471">
                <a:tc>
                  <a:txBody>
                    <a:bodyPr/>
                    <a:lstStyle/>
                    <a:p>
                      <a:r>
                        <a:rPr lang="en-US" dirty="0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755562"/>
                  </a:ext>
                </a:extLst>
              </a:tr>
              <a:tr h="602471">
                <a:tc>
                  <a:txBody>
                    <a:bodyPr/>
                    <a:lstStyle/>
                    <a:p>
                      <a:r>
                        <a:rPr lang="en-US" dirty="0"/>
                        <a:t>Frontend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React + Next.js 10.2.3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9905554"/>
                  </a:ext>
                </a:extLst>
              </a:tr>
              <a:tr h="602471">
                <a:tc>
                  <a:txBody>
                    <a:bodyPr/>
                    <a:lstStyle/>
                    <a:p>
                      <a:r>
                        <a:rPr lang="en-US"/>
                        <a:t>Hosting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466985"/>
                  </a:ext>
                </a:extLst>
              </a:tr>
              <a:tr h="602471">
                <a:tc>
                  <a:txBody>
                    <a:bodyPr/>
                    <a:lstStyle/>
                    <a:p>
                      <a:r>
                        <a:rPr lang="en-US"/>
                        <a:t>CDN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CloudFront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877406"/>
                  </a:ext>
                </a:extLst>
              </a:tr>
              <a:tr h="602471">
                <a:tc>
                  <a:txBody>
                    <a:bodyPr/>
                    <a:lstStyle/>
                    <a:p>
                      <a:r>
                        <a:rPr lang="en-US"/>
                        <a:t>Reverse Proxy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Envoy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767663"/>
                  </a:ext>
                </a:extLst>
              </a:tr>
              <a:tr h="602471">
                <a:tc>
                  <a:txBody>
                    <a:bodyPr/>
                    <a:lstStyle/>
                    <a:p>
                      <a:r>
                        <a:rPr lang="en-US"/>
                        <a:t>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Sentry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25091"/>
                  </a:ext>
                </a:extLst>
              </a:tr>
              <a:tr h="602471">
                <a:tc>
                  <a:txBody>
                    <a:bodyPr/>
                    <a:lstStyle/>
                    <a:p>
                      <a:r>
                        <a:rPr lang="en-US"/>
                        <a:t>Tracking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LinkedIn Insight Tag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079567"/>
                  </a:ext>
                </a:extLst>
              </a:tr>
              <a:tr h="602471">
                <a:tc>
                  <a:txBody>
                    <a:bodyPr/>
                    <a:lstStyle/>
                    <a:p>
                      <a:r>
                        <a:rPr lang="en-US"/>
                        <a:t>Security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HSTS Enabled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854302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857500" y="798313"/>
            <a:ext cx="54406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Executive Summary Version</a:t>
            </a:r>
          </a:p>
        </p:txBody>
      </p:sp>
    </p:spTree>
    <p:extLst>
      <p:ext uri="{BB962C8B-B14F-4D97-AF65-F5344CB8AC3E}">
        <p14:creationId xmlns:p14="http://schemas.microsoft.com/office/powerpoint/2010/main" val="3984429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708660"/>
            <a:ext cx="1072134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WHOIS</a:t>
            </a:r>
            <a:endParaRPr lang="en-US" altLang="en-US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whois</a:t>
            </a:r>
            <a:r>
              <a:rPr lang="en-US" altLang="en-US" dirty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target.com</a:t>
            </a:r>
            <a:r>
              <a:rPr lang="en-US" altLang="en-US" dirty="0"/>
              <a:t> </a:t>
            </a:r>
            <a:endParaRPr lang="en-US" altLang="en-US" dirty="0" smtClean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n-US" dirty="0"/>
              <a:t>Look for:</a:t>
            </a:r>
          </a:p>
          <a:p>
            <a:r>
              <a:rPr lang="en-US" dirty="0"/>
              <a:t>Registrar</a:t>
            </a:r>
          </a:p>
          <a:p>
            <a:r>
              <a:rPr lang="en-US" dirty="0"/>
              <a:t>Organization name</a:t>
            </a:r>
          </a:p>
          <a:p>
            <a:r>
              <a:rPr lang="en-US" dirty="0"/>
              <a:t>Name Servers</a:t>
            </a:r>
          </a:p>
          <a:p>
            <a:r>
              <a:rPr lang="en-US" dirty="0" err="1"/>
              <a:t>NetRange</a:t>
            </a:r>
            <a:r>
              <a:rPr lang="en-US" dirty="0"/>
              <a:t> / CIDR blocks</a:t>
            </a:r>
          </a:p>
          <a:p>
            <a:r>
              <a:rPr lang="en-US" dirty="0"/>
              <a:t>Abuse contacts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29" y="1417605"/>
            <a:ext cx="3524742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418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31520" y="868680"/>
            <a:ext cx="10279380" cy="5175504"/>
          </a:xfrm>
        </p:spPr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Identifies ownership and ASN clues</a:t>
            </a:r>
            <a:r>
              <a:rPr lang="en-US" altLang="en-US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dirty="0"/>
              <a:t> network (ASN)</a:t>
            </a:r>
            <a:r>
              <a:rPr lang="en-US" altLang="en-US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altLang="en-US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Useful for infrastructure mapping</a:t>
            </a:r>
            <a:r>
              <a:rPr lang="en-US" altLang="en-US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dirty="0"/>
              <a:t> how the target’s servers and networks are structured and connected</a:t>
            </a:r>
            <a:r>
              <a:rPr lang="en-US" dirty="0" smtClean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NSLookup</a:t>
            </a:r>
            <a:endParaRPr lang="en-US" altLang="en-US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nslookup</a:t>
            </a:r>
            <a:r>
              <a:rPr lang="en-US" altLang="en-US" dirty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sub.target.com</a:t>
            </a:r>
            <a:r>
              <a:rPr lang="en-US" altLang="en-US" dirty="0"/>
              <a:t> </a:t>
            </a: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Resolves IP and DNS info</a:t>
            </a:r>
            <a:r>
              <a:rPr lang="en-US" altLang="en-US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dirty="0"/>
              <a:t> Finds the IP address and DNS records linked to the domain.</a:t>
            </a:r>
            <a:r>
              <a:rPr lang="en-US" altLang="en-US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altLang="en-US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Helps detect hosting patterns</a:t>
            </a:r>
            <a:r>
              <a:rPr lang="en-US" altLang="en-US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dirty="0"/>
              <a:t> Shows where and how the domain is hosted (e.g., same IP for many subdomains, CDN usage, shared hosting</a:t>
            </a:r>
            <a:r>
              <a:rPr lang="en-US" dirty="0" smtClean="0"/>
              <a:t>). </a:t>
            </a:r>
            <a:endParaRPr 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CDN A </a:t>
            </a:r>
            <a:r>
              <a:rPr lang="en-US" dirty="0"/>
              <a:t>network of distributed servers that deliver website content from locations closer to users</a:t>
            </a:r>
            <a:r>
              <a:rPr lang="en-US" dirty="0" smtClean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98" y="3247579"/>
            <a:ext cx="3077004" cy="16480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98" y="4895634"/>
            <a:ext cx="4220164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83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313899"/>
            <a:ext cx="11391900" cy="6134145"/>
          </a:xfrm>
        </p:spPr>
        <p:txBody>
          <a:bodyPr>
            <a:normAutofit fontScale="47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🔎 Query Specific Records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A Record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nslookup</a:t>
            </a:r>
            <a:r>
              <a:rPr lang="en-US" altLang="en-US" sz="3600" dirty="0">
                <a:latin typeface="Arial" panose="020B0604020202020204" pitchFamily="34" charset="0"/>
              </a:rPr>
              <a:t> -type=A target.com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MX Record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nslookup</a:t>
            </a:r>
            <a:r>
              <a:rPr lang="en-US" altLang="en-US" sz="3600" dirty="0">
                <a:latin typeface="Arial" panose="020B0604020202020204" pitchFamily="34" charset="0"/>
              </a:rPr>
              <a:t> -type=MX target.com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NS Record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nslookup</a:t>
            </a:r>
            <a:r>
              <a:rPr lang="en-US" altLang="en-US" sz="3600" dirty="0">
                <a:latin typeface="Arial" panose="020B0604020202020204" pitchFamily="34" charset="0"/>
              </a:rPr>
              <a:t> -type=NS target.com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TXT Record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nslookup</a:t>
            </a:r>
            <a:r>
              <a:rPr lang="en-US" altLang="en-US" sz="3600" dirty="0">
                <a:latin typeface="Arial" panose="020B0604020202020204" pitchFamily="34" charset="0"/>
              </a:rPr>
              <a:t> -type=TXT target.com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🔥 Alternative (More Powerful) — dig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dig target.com </a:t>
            </a:r>
            <a:r>
              <a:rPr lang="en-US" altLang="en-US" sz="3600" dirty="0" smtClean="0">
                <a:latin typeface="Arial" panose="020B0604020202020204" pitchFamily="34" charset="0"/>
              </a:rPr>
              <a:t>ANY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Or</a:t>
            </a:r>
            <a:r>
              <a:rPr lang="en-US" altLang="en-US" sz="3600" dirty="0" smtClean="0">
                <a:latin typeface="Arial" panose="020B0604020202020204" pitchFamily="34" charset="0"/>
              </a:rPr>
              <a:t>: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dig target.com MX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dig target.com 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dig target.com </a:t>
            </a:r>
            <a:r>
              <a:rPr lang="en-US" altLang="en-US" sz="3600" dirty="0" smtClean="0">
                <a:latin typeface="Arial" panose="020B0604020202020204" pitchFamily="34" charset="0"/>
              </a:rPr>
              <a:t>TXT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📡 What You’re Actually </a:t>
            </a:r>
            <a:r>
              <a:rPr lang="en-US" altLang="en-US" sz="3600" dirty="0" smtClean="0">
                <a:latin typeface="Arial" panose="020B0604020202020204" pitchFamily="34" charset="0"/>
              </a:rPr>
              <a:t>Mapping(</a:t>
            </a:r>
            <a:r>
              <a:rPr lang="en-US" sz="3600" dirty="0"/>
              <a:t>Creating a structured overview target’s </a:t>
            </a:r>
            <a:r>
              <a:rPr lang="en-US" sz="3600" dirty="0" smtClean="0"/>
              <a:t>infrastructure)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You’re building: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Hosting provider identification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Cloud provider detection (AWS / Azure / GCP)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CDN detection (</a:t>
            </a:r>
            <a:r>
              <a:rPr lang="en-US" altLang="en-US" sz="3600" dirty="0" err="1">
                <a:latin typeface="Arial" panose="020B0604020202020204" pitchFamily="34" charset="0"/>
              </a:rPr>
              <a:t>CloudFront</a:t>
            </a:r>
            <a:r>
              <a:rPr lang="en-US" altLang="en-US" sz="3600" dirty="0">
                <a:latin typeface="Arial" panose="020B0604020202020204" pitchFamily="34" charset="0"/>
              </a:rPr>
              <a:t> / Akamai / </a:t>
            </a:r>
            <a:r>
              <a:rPr lang="en-US" altLang="en-US" sz="3600" dirty="0" err="1">
                <a:latin typeface="Arial" panose="020B0604020202020204" pitchFamily="34" charset="0"/>
              </a:rPr>
              <a:t>Cloudflare</a:t>
            </a:r>
            <a:r>
              <a:rPr lang="en-US" altLang="en-US" sz="3600" dirty="0">
                <a:latin typeface="Arial" panose="020B0604020202020204" pitchFamily="34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Email infrastructure mapping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Subdomain discovery hints</a:t>
            </a:r>
          </a:p>
        </p:txBody>
      </p:sp>
    </p:spTree>
    <p:extLst>
      <p:ext uri="{BB962C8B-B14F-4D97-AF65-F5344CB8AC3E}">
        <p14:creationId xmlns:p14="http://schemas.microsoft.com/office/powerpoint/2010/main" val="2705196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1238250"/>
            <a:ext cx="11391900" cy="520979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800" dirty="0" smtClean="0"/>
              <a:t>Task 2 Part 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800" dirty="0" smtClean="0"/>
              <a:t>Perform </a:t>
            </a:r>
            <a:r>
              <a:rPr lang="en-US" sz="1800" b="1" dirty="0"/>
              <a:t>advanced Google Dorking</a:t>
            </a:r>
            <a:r>
              <a:rPr lang="en-US" sz="1800" dirty="0"/>
              <a:t> to find sensitive files </a:t>
            </a:r>
            <a:r>
              <a:rPr lang="en-US" sz="1800" dirty="0" smtClean="0"/>
              <a:t>like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800" dirty="0" smtClean="0"/>
              <a:t> </a:t>
            </a:r>
            <a:r>
              <a:rPr lang="en-US" sz="1800" dirty="0" err="1"/>
              <a:t>phpinfo</a:t>
            </a:r>
            <a:r>
              <a:rPr lang="en-US" sz="1800" dirty="0"/>
              <a:t>(), .</a:t>
            </a:r>
            <a:r>
              <a:rPr lang="en-US" sz="1800" dirty="0" err="1"/>
              <a:t>env</a:t>
            </a:r>
            <a:r>
              <a:rPr lang="en-US" sz="1800" dirty="0"/>
              <a:t>, robots.txt, and backup directories (.</a:t>
            </a:r>
            <a:r>
              <a:rPr lang="en-US" sz="1800" dirty="0" err="1"/>
              <a:t>bak</a:t>
            </a:r>
            <a:r>
              <a:rPr lang="en-US" sz="1800" dirty="0"/>
              <a:t>, .zip). </a:t>
            </a:r>
            <a:endParaRPr lang="en-US" altLang="en-US" sz="18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 smtClean="0">
                <a:solidFill>
                  <a:srgbClr val="BA1BCB"/>
                </a:solidFill>
                <a:latin typeface="Arial" panose="020B0604020202020204" pitchFamily="34" charset="0"/>
              </a:rPr>
              <a:t>Finding </a:t>
            </a:r>
            <a:r>
              <a:rPr lang="en-US" altLang="en-US" sz="1800" b="1" dirty="0" err="1">
                <a:solidFill>
                  <a:srgbClr val="BA1BCB"/>
                </a:solidFill>
                <a:latin typeface="Arial" panose="020B0604020202020204" pitchFamily="34" charset="0"/>
              </a:rPr>
              <a:t>phpinfo</a:t>
            </a:r>
            <a:r>
              <a:rPr lang="en-US" altLang="en-US" sz="1800" b="1" dirty="0">
                <a:solidFill>
                  <a:srgbClr val="BA1BCB"/>
                </a:solidFill>
                <a:latin typeface="Arial" panose="020B0604020202020204" pitchFamily="34" charset="0"/>
              </a:rPr>
              <a:t>() </a:t>
            </a:r>
            <a:r>
              <a:rPr lang="en-US" altLang="en-US" sz="1800" b="1" dirty="0" smtClean="0">
                <a:solidFill>
                  <a:srgbClr val="BA1BCB"/>
                </a:solidFill>
                <a:latin typeface="Arial" panose="020B0604020202020204" pitchFamily="34" charset="0"/>
              </a:rPr>
              <a:t>Pages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 smtClean="0">
                <a:latin typeface="Arial" panose="020B0604020202020204" pitchFamily="34" charset="0"/>
              </a:rPr>
              <a:t>Search in Google</a:t>
            </a:r>
            <a:endParaRPr lang="en-US" altLang="en-US" sz="18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inurl:phpinfo.php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intitle</a:t>
            </a:r>
            <a:r>
              <a:rPr lang="en-US" altLang="en-US" sz="1800" dirty="0">
                <a:latin typeface="Arial" panose="020B0604020202020204" pitchFamily="34" charset="0"/>
              </a:rPr>
              <a:t>:"</a:t>
            </a:r>
            <a:r>
              <a:rPr lang="en-US" altLang="en-US" sz="1800" dirty="0" err="1">
                <a:latin typeface="Arial" panose="020B0604020202020204" pitchFamily="34" charset="0"/>
              </a:rPr>
              <a:t>phpinfo</a:t>
            </a:r>
            <a:r>
              <a:rPr lang="en-US" altLang="en-US" sz="1800" dirty="0">
                <a:latin typeface="Arial" panose="020B0604020202020204" pitchFamily="34" charset="0"/>
              </a:rPr>
              <a:t>()"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Why this matters: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Reveals PHP version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Shows loaded modules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Displays server paths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Environment </a:t>
            </a:r>
            <a:r>
              <a:rPr lang="en-US" altLang="en-US" sz="1800" dirty="0" smtClean="0">
                <a:latin typeface="Arial" panose="020B0604020202020204" pitchFamily="34" charset="0"/>
              </a:rPr>
              <a:t>variables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48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1238250"/>
            <a:ext cx="11391900" cy="520979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>
                <a:solidFill>
                  <a:srgbClr val="BA1BCB"/>
                </a:solidFill>
                <a:latin typeface="Arial" panose="020B0604020202020204" pitchFamily="34" charset="0"/>
              </a:rPr>
              <a:t>🎯 Finding .</a:t>
            </a:r>
            <a:r>
              <a:rPr lang="en-US" altLang="en-US" sz="1800" b="1" dirty="0" err="1">
                <a:solidFill>
                  <a:srgbClr val="BA1BCB"/>
                </a:solidFill>
                <a:latin typeface="Arial" panose="020B0604020202020204" pitchFamily="34" charset="0"/>
              </a:rPr>
              <a:t>env</a:t>
            </a:r>
            <a:r>
              <a:rPr lang="en-US" altLang="en-US" sz="1800" b="1" dirty="0">
                <a:solidFill>
                  <a:srgbClr val="BA1BCB"/>
                </a:solidFill>
                <a:latin typeface="Arial" panose="020B0604020202020204" pitchFamily="34" charset="0"/>
              </a:rPr>
              <a:t> Files (Critical)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filetype:env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inurl</a:t>
            </a:r>
            <a:r>
              <a:rPr lang="en-US" altLang="en-US" sz="1800" dirty="0">
                <a:latin typeface="Arial" panose="020B0604020202020204" pitchFamily="34" charset="0"/>
              </a:rPr>
              <a:t>:.</a:t>
            </a:r>
            <a:r>
              <a:rPr lang="en-US" altLang="en-US" sz="1800" dirty="0" err="1">
                <a:latin typeface="Arial" panose="020B0604020202020204" pitchFamily="34" charset="0"/>
              </a:rPr>
              <a:t>env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These may expose: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Database credentials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API keys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Mail server passwords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Secret tokens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⚠️ Most real-world breaches start from exposed .</a:t>
            </a:r>
            <a:r>
              <a:rPr lang="en-US" altLang="en-US" sz="1800" dirty="0" err="1">
                <a:latin typeface="Arial" panose="020B0604020202020204" pitchFamily="34" charset="0"/>
              </a:rPr>
              <a:t>env</a:t>
            </a:r>
            <a:r>
              <a:rPr lang="en-US" altLang="en-US" sz="1800" dirty="0" smtClean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solidFill>
                  <a:srgbClr val="BA1BCB"/>
                </a:solidFill>
                <a:latin typeface="Arial" panose="020B0604020202020204" pitchFamily="34" charset="0"/>
              </a:rPr>
              <a:t>🎯 Finding robots.txt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inurl:robots.txt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Robots often reveal: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Admin panels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Private directories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Staging environments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API paths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Always manually inspect it.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699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1238250"/>
            <a:ext cx="11391900" cy="5209794"/>
          </a:xfrm>
        </p:spPr>
        <p:txBody>
          <a:bodyPr>
            <a:normAutofit fontScale="6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solidFill>
                  <a:srgbClr val="BA1BCB"/>
                </a:solidFill>
                <a:latin typeface="Arial" panose="020B0604020202020204" pitchFamily="34" charset="0"/>
              </a:rPr>
              <a:t>🎯 Finding Backup Files (.</a:t>
            </a:r>
            <a:r>
              <a:rPr lang="en-US" altLang="en-US" sz="3600" dirty="0" err="1">
                <a:solidFill>
                  <a:srgbClr val="BA1BCB"/>
                </a:solidFill>
                <a:latin typeface="Arial" panose="020B0604020202020204" pitchFamily="34" charset="0"/>
              </a:rPr>
              <a:t>bak</a:t>
            </a:r>
            <a:r>
              <a:rPr lang="en-US" altLang="en-US" sz="3600" dirty="0">
                <a:solidFill>
                  <a:srgbClr val="BA1BCB"/>
                </a:solidFill>
                <a:latin typeface="Arial" panose="020B0604020202020204" pitchFamily="34" charset="0"/>
              </a:rPr>
              <a:t>, .zip, .old, .tar)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3600" dirty="0">
                <a:latin typeface="Arial" panose="020B0604020202020204" pitchFamily="34" charset="0"/>
              </a:rPr>
              <a:t> </a:t>
            </a:r>
            <a:r>
              <a:rPr lang="en-US" altLang="en-US" sz="3600" dirty="0" err="1">
                <a:latin typeface="Arial" panose="020B0604020202020204" pitchFamily="34" charset="0"/>
              </a:rPr>
              <a:t>filetype:bak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3600" dirty="0">
                <a:latin typeface="Arial" panose="020B0604020202020204" pitchFamily="34" charset="0"/>
              </a:rPr>
              <a:t> </a:t>
            </a:r>
            <a:r>
              <a:rPr lang="en-US" altLang="en-US" sz="3600" dirty="0" err="1">
                <a:latin typeface="Arial" panose="020B0604020202020204" pitchFamily="34" charset="0"/>
              </a:rPr>
              <a:t>filetype:zip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3600" dirty="0">
                <a:latin typeface="Arial" panose="020B0604020202020204" pitchFamily="34" charset="0"/>
              </a:rPr>
              <a:t> </a:t>
            </a:r>
            <a:r>
              <a:rPr lang="en-US" altLang="en-US" sz="3600" dirty="0" err="1">
                <a:latin typeface="Arial" panose="020B0604020202020204" pitchFamily="34" charset="0"/>
              </a:rPr>
              <a:t>inurl:backup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3600" dirty="0">
                <a:latin typeface="Arial" panose="020B0604020202020204" pitchFamily="34" charset="0"/>
              </a:rPr>
              <a:t> </a:t>
            </a:r>
            <a:r>
              <a:rPr lang="en-US" altLang="en-US" sz="3600" dirty="0" err="1">
                <a:latin typeface="Arial" panose="020B0604020202020204" pitchFamily="34" charset="0"/>
              </a:rPr>
              <a:t>ext:sql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3600" dirty="0">
                <a:latin typeface="Arial" panose="020B0604020202020204" pitchFamily="34" charset="0"/>
              </a:rPr>
              <a:t> </a:t>
            </a:r>
            <a:r>
              <a:rPr lang="en-US" altLang="en-US" sz="3600" dirty="0" err="1">
                <a:latin typeface="Arial" panose="020B0604020202020204" pitchFamily="34" charset="0"/>
              </a:rPr>
              <a:t>ext:old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Backup archives sometimes contain: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Full source code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SQL dumps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Configuration </a:t>
            </a:r>
            <a:r>
              <a:rPr lang="en-US" altLang="en-US" sz="3600" dirty="0" smtClean="0">
                <a:latin typeface="Arial" panose="020B0604020202020204" pitchFamily="34" charset="0"/>
              </a:rPr>
              <a:t>files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solidFill>
                  <a:srgbClr val="BA1BCB"/>
                </a:solidFill>
                <a:latin typeface="Arial" panose="020B0604020202020204" pitchFamily="34" charset="0"/>
              </a:rPr>
              <a:t>🎯 Directory Listing Discovery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3600" dirty="0">
                <a:latin typeface="Arial" panose="020B0604020202020204" pitchFamily="34" charset="0"/>
              </a:rPr>
              <a:t> </a:t>
            </a:r>
            <a:r>
              <a:rPr lang="en-US" altLang="en-US" sz="3600" dirty="0" err="1">
                <a:latin typeface="Arial" panose="020B0604020202020204" pitchFamily="34" charset="0"/>
              </a:rPr>
              <a:t>intitle</a:t>
            </a:r>
            <a:r>
              <a:rPr lang="en-US" altLang="en-US" sz="3600" dirty="0">
                <a:latin typeface="Arial" panose="020B0604020202020204" pitchFamily="34" charset="0"/>
              </a:rPr>
              <a:t>:"index of"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If directory listing is enabled, you may find: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Uploaded files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Logs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Backups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Internal documents</a:t>
            </a:r>
          </a:p>
        </p:txBody>
      </p:sp>
    </p:spTree>
    <p:extLst>
      <p:ext uri="{BB962C8B-B14F-4D97-AF65-F5344CB8AC3E}">
        <p14:creationId xmlns:p14="http://schemas.microsoft.com/office/powerpoint/2010/main" val="1059102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1238250"/>
            <a:ext cx="11391900" cy="520979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Task 03: GitHub Dorking &amp; Credential Leaks </a:t>
            </a:r>
          </a:p>
          <a:p>
            <a:r>
              <a:rPr lang="en-US" b="1" dirty="0"/>
              <a:t>Description:</a:t>
            </a:r>
            <a:r>
              <a:rPr lang="en-US" dirty="0"/>
              <a:t> Search for leaked secrets and hardcoded credentials in public repositories. </a:t>
            </a:r>
          </a:p>
          <a:p>
            <a:r>
              <a:rPr lang="en-US" dirty="0" smtClean="0"/>
              <a:t>Practical </a:t>
            </a:r>
            <a:r>
              <a:rPr lang="en-US" dirty="0"/>
              <a:t>Demonstration – Manual GitHub </a:t>
            </a:r>
            <a:r>
              <a:rPr lang="en-US" dirty="0" smtClean="0"/>
              <a:t>Search</a:t>
            </a:r>
          </a:p>
          <a:p>
            <a:pPr lvl="0"/>
            <a:r>
              <a:rPr lang="en-US" dirty="0"/>
              <a:t>Go to: </a:t>
            </a:r>
            <a:r>
              <a:rPr lang="en-US" u="sng" dirty="0">
                <a:hlinkClick r:id="rId2"/>
              </a:rPr>
              <a:t>https://github.com</a:t>
            </a:r>
            <a:endParaRPr lang="en-US" dirty="0"/>
          </a:p>
          <a:p>
            <a:pPr lvl="0"/>
            <a:r>
              <a:rPr lang="en-US" dirty="0"/>
              <a:t>Use the search bar at the </a:t>
            </a:r>
            <a:r>
              <a:rPr lang="en-US" dirty="0" smtClean="0"/>
              <a:t>top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AF0980"/>
                </a:solidFill>
              </a:rPr>
              <a:t>Basic Organization-Based Search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Example</a:t>
            </a:r>
            <a:endParaRPr lang="en-US" altLang="en-US" sz="16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700" dirty="0" err="1">
                <a:solidFill>
                  <a:schemeClr val="accent5">
                    <a:lumMod val="50000"/>
                  </a:schemeClr>
                </a:solidFill>
              </a:rPr>
              <a:t>org:targetorg</a:t>
            </a:r>
            <a:r>
              <a:rPr lang="en-US" sz="1700" dirty="0">
                <a:solidFill>
                  <a:schemeClr val="accent5">
                    <a:lumMod val="50000"/>
                  </a:schemeClr>
                </a:solidFill>
              </a:rPr>
              <a:t> "API_KEY"</a:t>
            </a:r>
            <a:br>
              <a:rPr lang="en-US" sz="17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sz="1700" dirty="0" err="1">
                <a:solidFill>
                  <a:schemeClr val="accent5">
                    <a:lumMod val="50000"/>
                  </a:schemeClr>
                </a:solidFill>
              </a:rPr>
              <a:t>org:targetorg</a:t>
            </a:r>
            <a:r>
              <a:rPr lang="en-US" sz="1700" dirty="0">
                <a:solidFill>
                  <a:schemeClr val="accent5">
                    <a:lumMod val="50000"/>
                  </a:schemeClr>
                </a:solidFill>
              </a:rPr>
              <a:t> "PASSWORD"</a:t>
            </a:r>
            <a:br>
              <a:rPr lang="en-US" sz="17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sz="1700" dirty="0" err="1">
                <a:solidFill>
                  <a:schemeClr val="accent5">
                    <a:lumMod val="50000"/>
                  </a:schemeClr>
                </a:solidFill>
              </a:rPr>
              <a:t>org:targetorg</a:t>
            </a:r>
            <a:r>
              <a:rPr lang="en-US" sz="1700" dirty="0">
                <a:solidFill>
                  <a:schemeClr val="accent5">
                    <a:lumMod val="50000"/>
                  </a:schemeClr>
                </a:solidFill>
              </a:rPr>
              <a:t> "AWS_SECRET"</a:t>
            </a:r>
            <a:br>
              <a:rPr lang="en-US" sz="17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sz="1700" dirty="0" err="1">
                <a:solidFill>
                  <a:schemeClr val="accent5">
                    <a:lumMod val="50000"/>
                  </a:schemeClr>
                </a:solidFill>
              </a:rPr>
              <a:t>org:targetorg</a:t>
            </a:r>
            <a:r>
              <a:rPr lang="en-US" sz="1700" dirty="0">
                <a:solidFill>
                  <a:schemeClr val="accent5">
                    <a:lumMod val="50000"/>
                  </a:schemeClr>
                </a:solidFill>
              </a:rPr>
              <a:t> "</a:t>
            </a:r>
            <a:r>
              <a:rPr lang="en-US" sz="1700" dirty="0" smtClean="0">
                <a:solidFill>
                  <a:schemeClr val="accent5">
                    <a:lumMod val="50000"/>
                  </a:schemeClr>
                </a:solidFill>
              </a:rPr>
              <a:t>SQL_CONNECTION“</a:t>
            </a:r>
            <a:endParaRPr lang="en-US" sz="12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sz="1200" dirty="0">
              <a:solidFill>
                <a:schemeClr val="accent5">
                  <a:lumMod val="50000"/>
                </a:schemeClr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2400" b="1" dirty="0">
                <a:solidFill>
                  <a:srgbClr val="BA1BCB"/>
                </a:solidFill>
              </a:rPr>
              <a:t>Broad Public Search (Outside Org Scope)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"target.com" "API_KEY"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"</a:t>
            </a:r>
            <a:r>
              <a:rPr lang="en-US" sz="1800" dirty="0" err="1">
                <a:solidFill>
                  <a:schemeClr val="accent5">
                    <a:lumMod val="50000"/>
                  </a:schemeClr>
                </a:solidFill>
              </a:rPr>
              <a:t>targetorg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" "AWS_SECRET_ACCESS_KEY"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"</a:t>
            </a:r>
            <a:r>
              <a:rPr lang="en-US" sz="1800" dirty="0" err="1">
                <a:solidFill>
                  <a:schemeClr val="accent5">
                    <a:lumMod val="50000"/>
                  </a:schemeClr>
                </a:solidFill>
              </a:rPr>
              <a:t>targetorg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" "</a:t>
            </a:r>
            <a:r>
              <a:rPr lang="en-US" sz="1800" dirty="0" smtClean="0">
                <a:solidFill>
                  <a:schemeClr val="accent5">
                    <a:lumMod val="50000"/>
                  </a:schemeClr>
                </a:solidFill>
              </a:rPr>
              <a:t>PRIVATE_KEY“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sz="1800" dirty="0">
              <a:solidFill>
                <a:schemeClr val="accent5">
                  <a:lumMod val="50000"/>
                </a:schemeClr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Sometimes employees push code to personal repos instead of official org repos</a:t>
            </a:r>
            <a:r>
              <a:rPr lang="en-US" sz="1800" dirty="0" smtClean="0">
                <a:solidFill>
                  <a:schemeClr val="accent5">
                    <a:lumMod val="50000"/>
                  </a:schemeClr>
                </a:solidFill>
              </a:rPr>
              <a:t>.</a:t>
            </a:r>
            <a:endParaRPr lang="en-US" altLang="en-US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71550" y="952500"/>
            <a:ext cx="12192000" cy="17463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96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1238250"/>
            <a:ext cx="11391900" cy="520979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914400" algn="l"/>
              </a:tabLst>
            </a:pPr>
            <a:r>
              <a:rPr lang="en-US" altLang="en-US" sz="2000" dirty="0">
                <a:solidFill>
                  <a:srgbClr val="BA1BCB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Advanced Search Filters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914400" algn="l"/>
              </a:tabLst>
            </a:pPr>
            <a:r>
              <a:rPr lang="en-US" altLang="en-US" sz="1400" dirty="0">
                <a:ea typeface="Times New Roman" panose="02020603050405020304" pitchFamily="18" charset="0"/>
              </a:rPr>
              <a:t>After searching: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914400" algn="l"/>
              </a:tabLst>
            </a:pPr>
            <a:r>
              <a:rPr lang="en-US" alt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  <a:t>Click </a:t>
            </a:r>
            <a:r>
              <a:rPr lang="en-US" altLang="en-US" sz="1400" b="1" dirty="0">
                <a:latin typeface="Arial" panose="020B0604020202020204" pitchFamily="34" charset="0"/>
                <a:ea typeface="Times New Roman" panose="02020603050405020304" pitchFamily="18" charset="0"/>
              </a:rPr>
              <a:t>Code</a:t>
            </a:r>
            <a:r>
              <a:rPr lang="en-US" alt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  <a:t> (not Issues, not Users)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914400" algn="l"/>
              </a:tabLst>
            </a:pPr>
            <a:r>
              <a:rPr lang="en-US" alt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  <a:t>Filter by</a:t>
            </a:r>
            <a:r>
              <a:rPr lang="en-US" altLang="en-US" sz="14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: Recently updated</a:t>
            </a:r>
            <a:endParaRPr lang="en-US" altLang="en-US" sz="1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914400" algn="l"/>
              </a:tabLst>
            </a:pPr>
            <a:r>
              <a:rPr lang="en-US" altLang="en-US" sz="14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Language</a:t>
            </a:r>
            <a:endParaRPr lang="en-US" altLang="en-US" sz="1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914400" algn="l"/>
              </a:tabLst>
            </a:pPr>
            <a:r>
              <a:rPr lang="en-US" alt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  <a:t>Better structured query:</a:t>
            </a:r>
            <a:endParaRPr lang="en-US" altLang="en-US" sz="14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914400" algn="l"/>
              </a:tabLst>
            </a:pPr>
            <a:r>
              <a:rPr lang="en-US" altLang="en-US" sz="14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org:target</a:t>
            </a:r>
            <a:r>
              <a:rPr lang="en-US" altLang="en-US" sz="14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"API_KEY"</a:t>
            </a:r>
            <a:r>
              <a:rPr lang="en-US" altLang="en-US" sz="1400" dirty="0"/>
              <a:t> </a:t>
            </a:r>
            <a:endParaRPr lang="en-US" altLang="en-US" sz="1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914400" algn="l"/>
              </a:tabLst>
            </a:pPr>
            <a:r>
              <a:rPr lang="en-US" alt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  <a:t>Or: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914400" algn="l"/>
              </a:tabLst>
            </a:pPr>
            <a:r>
              <a:rPr lang="en-US" altLang="en-US" sz="14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"target.com" AND "API_KEY"</a:t>
            </a:r>
            <a:r>
              <a:rPr lang="en-US" altLang="en-US" sz="1400" dirty="0"/>
              <a:t> </a:t>
            </a:r>
            <a:endParaRPr lang="en-US" altLang="en-US" sz="14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914400" algn="l"/>
              </a:tabLst>
            </a:pPr>
            <a:endParaRPr lang="en-US" altLang="en-US" sz="1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400" dirty="0">
                <a:solidFill>
                  <a:srgbClr val="BA1BCB"/>
                </a:solidFill>
                <a:latin typeface="Arial" panose="020B0604020202020204" pitchFamily="34" charset="0"/>
              </a:rPr>
              <a:t>🎯 File-Specific Searches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filename:.</a:t>
            </a:r>
            <a:r>
              <a:rPr lang="en-US" altLang="en-US" sz="1700" dirty="0" err="1">
                <a:latin typeface="Arial" panose="020B0604020202020204" pitchFamily="34" charset="0"/>
              </a:rPr>
              <a:t>env</a:t>
            </a:r>
            <a:r>
              <a:rPr lang="en-US" altLang="en-US" sz="1700" dirty="0">
                <a:latin typeface="Arial" panose="020B0604020202020204" pitchFamily="34" charset="0"/>
              </a:rPr>
              <a:t> "target"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700" dirty="0" err="1">
                <a:latin typeface="Arial" panose="020B0604020202020204" pitchFamily="34" charset="0"/>
              </a:rPr>
              <a:t>filename:config</a:t>
            </a:r>
            <a:r>
              <a:rPr lang="en-US" altLang="en-US" sz="1700" dirty="0">
                <a:latin typeface="Arial" panose="020B0604020202020204" pitchFamily="34" charset="0"/>
              </a:rPr>
              <a:t> "DB_PASSWORD"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700" dirty="0" err="1">
                <a:latin typeface="Arial" panose="020B0604020202020204" pitchFamily="34" charset="0"/>
              </a:rPr>
              <a:t>filename:settings.py</a:t>
            </a:r>
            <a:r>
              <a:rPr lang="en-US" altLang="en-US" sz="1700" dirty="0">
                <a:latin typeface="Arial" panose="020B0604020202020204" pitchFamily="34" charset="0"/>
              </a:rPr>
              <a:t> "SECRET_KEY"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700" dirty="0" err="1">
                <a:latin typeface="Arial" panose="020B0604020202020204" pitchFamily="34" charset="0"/>
              </a:rPr>
              <a:t>extension:json</a:t>
            </a:r>
            <a:r>
              <a:rPr lang="en-US" altLang="en-US" sz="1700" dirty="0">
                <a:latin typeface="Arial" panose="020B0604020202020204" pitchFamily="34" charset="0"/>
              </a:rPr>
              <a:t> "</a:t>
            </a:r>
            <a:r>
              <a:rPr lang="en-US" altLang="en-US" sz="1700" dirty="0" err="1">
                <a:latin typeface="Arial" panose="020B0604020202020204" pitchFamily="34" charset="0"/>
              </a:rPr>
              <a:t>apiKey</a:t>
            </a:r>
            <a:r>
              <a:rPr lang="en-US" altLang="en-US" sz="1700" dirty="0">
                <a:latin typeface="Arial" panose="020B0604020202020204" pitchFamily="34" charset="0"/>
              </a:rPr>
              <a:t>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Common risky files: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.</a:t>
            </a:r>
            <a:r>
              <a:rPr lang="en-US" altLang="en-US" sz="1700" dirty="0" err="1">
                <a:latin typeface="Arial" panose="020B0604020202020204" pitchFamily="34" charset="0"/>
              </a:rPr>
              <a:t>env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config.js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settings.py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700" dirty="0" err="1">
                <a:latin typeface="Arial" panose="020B0604020202020204" pitchFamily="34" charset="0"/>
              </a:rPr>
              <a:t>application.properties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700" dirty="0" err="1">
                <a:latin typeface="Arial" panose="020B0604020202020204" pitchFamily="34" charset="0"/>
              </a:rPr>
              <a:t>web.config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914400" algn="l"/>
              </a:tabLst>
            </a:pPr>
            <a:endParaRPr lang="en-US" altLang="en-US" sz="14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914400" algn="l"/>
              </a:tabLst>
            </a:pPr>
            <a:endParaRPr lang="en-US" altLang="en-US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51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219200" y="1905090"/>
            <a:ext cx="8392258" cy="378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2E74B5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to Look For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You are NOT hunting for exploitation.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You are checking: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Is the value hardcoded?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Is it real-looking or test?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Is it commented out?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Is it part of documentation?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Example risky patterns: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const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API_KEY = "sk_live_93ksk29..."</a:t>
            </a:r>
            <a:b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AWS_SECRET=AKIAIOSFODNN7...</a:t>
            </a:r>
            <a:b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password = "Admin@123"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5603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568036"/>
            <a:ext cx="11391900" cy="5880008"/>
          </a:xfrm>
        </p:spPr>
        <p:txBody>
          <a:bodyPr>
            <a:normAutofit fontScale="9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dirty="0"/>
              <a:t>Commit History Analysis (Why Deleting Is Not Enough</a:t>
            </a:r>
            <a:r>
              <a:rPr lang="en-US" dirty="0" smtClean="0"/>
              <a:t>)</a:t>
            </a:r>
          </a:p>
          <a:p>
            <a:r>
              <a:rPr lang="en-US" sz="2700" b="1" dirty="0">
                <a:solidFill>
                  <a:srgbClr val="3BE214"/>
                </a:solidFill>
              </a:rPr>
              <a:t>If a repository </a:t>
            </a:r>
            <a:r>
              <a:rPr lang="en-US" sz="2700" b="1" dirty="0" smtClean="0">
                <a:solidFill>
                  <a:srgbClr val="3BE214"/>
                </a:solidFill>
              </a:rPr>
              <a:t>within </a:t>
            </a:r>
            <a:r>
              <a:rPr lang="en-US" sz="2700" b="1" dirty="0">
                <a:solidFill>
                  <a:srgbClr val="3BE214"/>
                </a:solidFill>
              </a:rPr>
              <a:t>is public:</a:t>
            </a:r>
          </a:p>
          <a:p>
            <a:pPr lvl="0"/>
            <a:r>
              <a:rPr lang="en-US" dirty="0"/>
              <a:t>Open the file.</a:t>
            </a:r>
          </a:p>
          <a:p>
            <a:pPr lvl="0"/>
            <a:r>
              <a:rPr lang="en-US" dirty="0"/>
              <a:t>Click </a:t>
            </a:r>
            <a:r>
              <a:rPr lang="en-US" b="1" dirty="0"/>
              <a:t>History</a:t>
            </a:r>
            <a:r>
              <a:rPr lang="en-US" dirty="0"/>
              <a:t> (top right).</a:t>
            </a:r>
          </a:p>
          <a:p>
            <a:pPr lvl="0"/>
            <a:r>
              <a:rPr lang="en-US" dirty="0"/>
              <a:t>Browse older commits.</a:t>
            </a:r>
          </a:p>
          <a:p>
            <a:r>
              <a:rPr lang="en-US" dirty="0"/>
              <a:t>“Even if a secret was removed later, </a:t>
            </a:r>
            <a:r>
              <a:rPr lang="en-US" dirty="0" err="1"/>
              <a:t>Git</a:t>
            </a:r>
            <a:r>
              <a:rPr lang="en-US" dirty="0"/>
              <a:t> preserves previous versions.”</a:t>
            </a:r>
          </a:p>
          <a:p>
            <a:r>
              <a:rPr lang="en-US" dirty="0"/>
              <a:t>Look for:</a:t>
            </a:r>
          </a:p>
          <a:p>
            <a:pPr lvl="0"/>
            <a:r>
              <a:rPr lang="en-US" dirty="0"/>
              <a:t>Added credentials in older commits</a:t>
            </a:r>
          </a:p>
          <a:p>
            <a:pPr lvl="0"/>
            <a:r>
              <a:rPr lang="en-US" dirty="0"/>
              <a:t>Secrets later removed</a:t>
            </a:r>
          </a:p>
          <a:p>
            <a:pPr lvl="0"/>
            <a:r>
              <a:rPr lang="en-US" dirty="0" err="1"/>
              <a:t>Config</a:t>
            </a:r>
            <a:r>
              <a:rPr lang="en-US" dirty="0"/>
              <a:t> files </a:t>
            </a:r>
            <a:r>
              <a:rPr lang="en-US" dirty="0" smtClean="0"/>
              <a:t>changed</a:t>
            </a:r>
          </a:p>
          <a:p>
            <a:pPr lvl="0"/>
            <a:endParaRPr lang="en-US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b="1" dirty="0">
                <a:solidFill>
                  <a:srgbClr val="BA1BCB"/>
                </a:solidFill>
              </a:rPr>
              <a:t>Using </a:t>
            </a:r>
            <a:r>
              <a:rPr lang="en-US" b="1" dirty="0" err="1">
                <a:solidFill>
                  <a:srgbClr val="BA1BCB"/>
                </a:solidFill>
              </a:rPr>
              <a:t>GitHacker</a:t>
            </a:r>
            <a:r>
              <a:rPr lang="en-US" b="1" dirty="0">
                <a:solidFill>
                  <a:srgbClr val="BA1BCB"/>
                </a:solidFill>
              </a:rPr>
              <a:t> (Authorized Repos Only</a:t>
            </a:r>
            <a:r>
              <a:rPr lang="en-US" b="1" dirty="0" smtClean="0">
                <a:solidFill>
                  <a:srgbClr val="BA1BCB"/>
                </a:solidFill>
              </a:rPr>
              <a:t>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githacker</a:t>
            </a:r>
            <a:r>
              <a:rPr lang="en-US" altLang="en-US" sz="1800" dirty="0">
                <a:latin typeface="Arial" panose="020B0604020202020204" pitchFamily="34" charset="0"/>
              </a:rPr>
              <a:t> --</a:t>
            </a:r>
            <a:r>
              <a:rPr lang="en-US" altLang="en-US" sz="1800" dirty="0" err="1">
                <a:latin typeface="Arial" panose="020B0604020202020204" pitchFamily="34" charset="0"/>
              </a:rPr>
              <a:t>url</a:t>
            </a:r>
            <a:r>
              <a:rPr lang="en-US" altLang="en-US" sz="1800" dirty="0">
                <a:latin typeface="Arial" panose="020B0604020202020204" pitchFamily="34" charset="0"/>
              </a:rPr>
              <a:t> &lt;URL_TO_.GIT_FOLDER&gt; --output-folder &lt;OUTPUT_DIRECTORY</a:t>
            </a:r>
            <a:r>
              <a:rPr lang="en-US" altLang="en-US" sz="1800" dirty="0" smtClean="0">
                <a:latin typeface="Arial" panose="020B0604020202020204" pitchFamily="34" charset="0"/>
              </a:rPr>
              <a:t>&gt;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sv-SE" altLang="en-US" sz="1800" dirty="0" smtClean="0">
                <a:latin typeface="Arial" panose="020B0604020202020204" pitchFamily="34" charset="0"/>
              </a:rPr>
              <a:t>OR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sv-SE" altLang="en-US" sz="1800" dirty="0" smtClean="0">
                <a:latin typeface="Arial" panose="020B0604020202020204" pitchFamily="34" charset="0"/>
              </a:rPr>
              <a:t>githacker </a:t>
            </a:r>
            <a:r>
              <a:rPr lang="sv-SE" altLang="en-US" sz="1800" dirty="0">
                <a:latin typeface="Arial" panose="020B0604020202020204" pitchFamily="34" charset="0"/>
              </a:rPr>
              <a:t>https://target.com/.git/ ./</a:t>
            </a:r>
            <a:r>
              <a:rPr lang="sv-SE" altLang="en-US" sz="1800" dirty="0" smtClean="0">
                <a:latin typeface="Arial" panose="020B0604020202020204" pitchFamily="34" charset="0"/>
              </a:rPr>
              <a:t>dumped_repo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sv-SE" altLang="en-US" sz="1800" dirty="0">
                <a:solidFill>
                  <a:srgbClr val="00B050"/>
                </a:solidFill>
                <a:latin typeface="Arial" panose="020B0604020202020204" pitchFamily="34" charset="0"/>
              </a:rPr>
              <a:t>After dumping: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sv-SE" altLang="en-US" sz="1800" dirty="0">
                <a:solidFill>
                  <a:srgbClr val="AF0980"/>
                </a:solidFill>
                <a:latin typeface="Arial" panose="020B0604020202020204" pitchFamily="34" charset="0"/>
              </a:rPr>
              <a:t>cd dumped_repo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sv-SE" altLang="en-US" sz="1800" dirty="0">
                <a:solidFill>
                  <a:srgbClr val="AF0980"/>
                </a:solidFill>
                <a:latin typeface="Arial" panose="020B0604020202020204" pitchFamily="34" charset="0"/>
              </a:rPr>
              <a:t>git </a:t>
            </a:r>
            <a:r>
              <a:rPr lang="sv-SE" altLang="en-US" sz="1800" dirty="0" smtClean="0">
                <a:solidFill>
                  <a:srgbClr val="AF0980"/>
                </a:solidFill>
                <a:latin typeface="Arial" panose="020B0604020202020204" pitchFamily="34" charset="0"/>
              </a:rPr>
              <a:t>log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sv-SE" altLang="en-US" sz="1800" dirty="0" smtClean="0">
              <a:solidFill>
                <a:srgbClr val="AF0980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solidFill>
                  <a:srgbClr val="AF0980"/>
                </a:solidFill>
                <a:latin typeface="Arial" panose="020B0604020202020204" pitchFamily="34" charset="0"/>
              </a:rPr>
              <a:t>This allows you to inspect commit history.</a:t>
            </a:r>
            <a:endParaRPr lang="sv-SE" altLang="en-US" sz="1800" dirty="0" smtClean="0">
              <a:solidFill>
                <a:srgbClr val="AF0980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62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1238250"/>
            <a:ext cx="11391900" cy="520979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>
                <a:solidFill>
                  <a:srgbClr val="00B05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rgbClr val="AF0980"/>
                </a:solidFill>
                <a:latin typeface="Arial" panose="020B0604020202020204" pitchFamily="34" charset="0"/>
              </a:rPr>
              <a:t>Analyzing Commit History for Deleted Secrets.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>
                <a:solidFill>
                  <a:srgbClr val="2BA60E"/>
                </a:solidFill>
                <a:latin typeface="Arial" panose="020B0604020202020204" pitchFamily="34" charset="0"/>
              </a:rPr>
              <a:t>Developers often: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Commit credentials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Realize mistake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Delete them in next commit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But </a:t>
            </a:r>
            <a:r>
              <a:rPr lang="en-US" altLang="en-US" sz="1600" dirty="0" err="1">
                <a:latin typeface="Arial" panose="020B0604020202020204" pitchFamily="34" charset="0"/>
              </a:rPr>
              <a:t>Git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 smtClean="0">
                <a:latin typeface="Arial" panose="020B0604020202020204" pitchFamily="34" charset="0"/>
              </a:rPr>
              <a:t>preserves </a:t>
            </a:r>
            <a:r>
              <a:rPr lang="en-US" altLang="en-US" sz="1600" dirty="0">
                <a:latin typeface="Arial" panose="020B0604020202020204" pitchFamily="34" charset="0"/>
              </a:rPr>
              <a:t>full history</a:t>
            </a:r>
            <a:r>
              <a:rPr lang="en-US" altLang="en-US" sz="1600" dirty="0" smtClean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solidFill>
                  <a:srgbClr val="3BE214"/>
                </a:solidFill>
                <a:latin typeface="Arial" panose="020B0604020202020204" pitchFamily="34" charset="0"/>
              </a:rPr>
              <a:t>🔍 Check Full History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 err="1">
                <a:solidFill>
                  <a:srgbClr val="BA1BCB"/>
                </a:solidFill>
                <a:latin typeface="Arial" panose="020B0604020202020204" pitchFamily="34" charset="0"/>
              </a:rPr>
              <a:t>git</a:t>
            </a:r>
            <a:r>
              <a:rPr lang="en-US" altLang="en-US" sz="1600" dirty="0">
                <a:solidFill>
                  <a:srgbClr val="BA1BCB"/>
                </a:solidFill>
                <a:latin typeface="Arial" panose="020B0604020202020204" pitchFamily="34" charset="0"/>
              </a:rPr>
              <a:t> log -p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🔎 Search Entire History for Keywords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 err="1">
                <a:solidFill>
                  <a:srgbClr val="BA1BCB"/>
                </a:solidFill>
                <a:latin typeface="Arial" panose="020B0604020202020204" pitchFamily="34" charset="0"/>
              </a:rPr>
              <a:t>git</a:t>
            </a:r>
            <a:r>
              <a:rPr lang="en-US" altLang="en-US" sz="1600" dirty="0">
                <a:solidFill>
                  <a:srgbClr val="BA1BCB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dirty="0" err="1">
                <a:solidFill>
                  <a:srgbClr val="BA1BCB"/>
                </a:solidFill>
                <a:latin typeface="Arial" panose="020B0604020202020204" pitchFamily="34" charset="0"/>
              </a:rPr>
              <a:t>grep</a:t>
            </a:r>
            <a:r>
              <a:rPr lang="en-US" altLang="en-US" sz="1600" dirty="0">
                <a:solidFill>
                  <a:srgbClr val="BA1BCB"/>
                </a:solidFill>
                <a:latin typeface="Arial" panose="020B0604020202020204" pitchFamily="34" charset="0"/>
              </a:rPr>
              <a:t> -</a:t>
            </a:r>
            <a:r>
              <a:rPr lang="en-US" altLang="en-US" sz="1600" dirty="0" err="1">
                <a:solidFill>
                  <a:srgbClr val="BA1BCB"/>
                </a:solidFill>
                <a:latin typeface="Arial" panose="020B0604020202020204" pitchFamily="34" charset="0"/>
              </a:rPr>
              <a:t>i</a:t>
            </a:r>
            <a:r>
              <a:rPr lang="en-US" altLang="en-US" sz="1600" dirty="0">
                <a:solidFill>
                  <a:srgbClr val="BA1BCB"/>
                </a:solidFill>
                <a:latin typeface="Arial" panose="020B0604020202020204" pitchFamily="34" charset="0"/>
              </a:rPr>
              <a:t> "password" $(</a:t>
            </a:r>
            <a:r>
              <a:rPr lang="en-US" altLang="en-US" sz="1600" dirty="0" err="1">
                <a:solidFill>
                  <a:srgbClr val="BA1BCB"/>
                </a:solidFill>
                <a:latin typeface="Arial" panose="020B0604020202020204" pitchFamily="34" charset="0"/>
              </a:rPr>
              <a:t>git</a:t>
            </a:r>
            <a:r>
              <a:rPr lang="en-US" altLang="en-US" sz="1600" dirty="0">
                <a:solidFill>
                  <a:srgbClr val="BA1BCB"/>
                </a:solidFill>
                <a:latin typeface="Arial" panose="020B0604020202020204" pitchFamily="34" charset="0"/>
              </a:rPr>
              <a:t> rev-list --all</a:t>
            </a:r>
            <a:r>
              <a:rPr lang="en-US" altLang="en-US" sz="1600" dirty="0" smtClean="0">
                <a:solidFill>
                  <a:srgbClr val="BA1BCB"/>
                </a:solidFill>
                <a:latin typeface="Arial" panose="020B0604020202020204" pitchFamily="34" charset="0"/>
              </a:rPr>
              <a:t>)</a:t>
            </a:r>
            <a:endParaRPr lang="en-US" altLang="en-US" sz="1600" dirty="0">
              <a:solidFill>
                <a:srgbClr val="BA1BC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Or</a:t>
            </a:r>
            <a:r>
              <a:rPr lang="en-US" altLang="en-US" sz="1600" dirty="0" smtClean="0">
                <a:latin typeface="Arial" panose="020B0604020202020204" pitchFamily="34" charset="0"/>
              </a:rPr>
              <a:t>: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 err="1">
                <a:solidFill>
                  <a:srgbClr val="BA1BCB"/>
                </a:solidFill>
                <a:latin typeface="Arial" panose="020B0604020202020204" pitchFamily="34" charset="0"/>
              </a:rPr>
              <a:t>git</a:t>
            </a:r>
            <a:r>
              <a:rPr lang="en-US" altLang="en-US" sz="1600" dirty="0">
                <a:solidFill>
                  <a:srgbClr val="BA1BCB"/>
                </a:solidFill>
                <a:latin typeface="Arial" panose="020B0604020202020204" pitchFamily="34" charset="0"/>
              </a:rPr>
              <a:t> log -S "API_KEY" --</a:t>
            </a:r>
            <a:r>
              <a:rPr lang="en-US" altLang="en-US" sz="1600" dirty="0" smtClean="0">
                <a:solidFill>
                  <a:srgbClr val="BA1BCB"/>
                </a:solidFill>
                <a:latin typeface="Arial" panose="020B0604020202020204" pitchFamily="34" charset="0"/>
              </a:rPr>
              <a:t>all</a:t>
            </a:r>
            <a:endParaRPr lang="en-US" altLang="en-US" sz="1600" dirty="0">
              <a:solidFill>
                <a:srgbClr val="BA1BC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This shows commits where the string was added or removed.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71550" y="952500"/>
            <a:ext cx="12192000" cy="17463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01562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1238250"/>
            <a:ext cx="11391900" cy="520979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500" dirty="0">
                <a:solidFill>
                  <a:srgbClr val="BA1BCB"/>
                </a:solidFill>
                <a:latin typeface="Arial" panose="020B0604020202020204" pitchFamily="34" charset="0"/>
              </a:rPr>
              <a:t>Task </a:t>
            </a:r>
            <a:r>
              <a:rPr lang="en-US" altLang="en-US" sz="2500" dirty="0" smtClean="0">
                <a:solidFill>
                  <a:srgbClr val="BA1BCB"/>
                </a:solidFill>
                <a:latin typeface="Arial" panose="020B0604020202020204" pitchFamily="34" charset="0"/>
              </a:rPr>
              <a:t>04 </a:t>
            </a:r>
            <a:r>
              <a:rPr lang="en-US" altLang="en-US" sz="2500" dirty="0">
                <a:solidFill>
                  <a:srgbClr val="BA1BCB"/>
                </a:solidFill>
                <a:latin typeface="Arial" panose="020B0604020202020204" pitchFamily="34" charset="0"/>
              </a:rPr>
              <a:t>– Live Asset Filtering &amp; Visual </a:t>
            </a:r>
            <a:r>
              <a:rPr lang="en-US" altLang="en-US" sz="2500" dirty="0" smtClean="0">
                <a:solidFill>
                  <a:srgbClr val="BA1BCB"/>
                </a:solidFill>
                <a:latin typeface="Arial" panose="020B0604020202020204" pitchFamily="34" charset="0"/>
              </a:rPr>
              <a:t>Recon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b="1" dirty="0">
                <a:solidFill>
                  <a:srgbClr val="FF0000"/>
                </a:solidFill>
              </a:rPr>
              <a:t>Description</a:t>
            </a:r>
            <a:r>
              <a:rPr lang="en-US" b="1" dirty="0"/>
              <a:t>:</a:t>
            </a:r>
            <a:r>
              <a:rPr lang="en-US" dirty="0"/>
              <a:t> Filter out dead assets and visualize the live attack </a:t>
            </a:r>
            <a:r>
              <a:rPr lang="en-US" dirty="0" smtClean="0"/>
              <a:t>surface</a:t>
            </a:r>
          </a:p>
          <a:p>
            <a:pPr lvl="0" fontAlgn="base"/>
            <a:r>
              <a:rPr lang="en-US" b="1" dirty="0">
                <a:solidFill>
                  <a:srgbClr val="2BA60E"/>
                </a:solidFill>
              </a:rPr>
              <a:t>Technical Requirements: </a:t>
            </a:r>
            <a:endParaRPr lang="en-US" dirty="0">
              <a:solidFill>
                <a:srgbClr val="2BA60E"/>
              </a:solidFill>
            </a:endParaRPr>
          </a:p>
          <a:p>
            <a:r>
              <a:rPr lang="en-US" dirty="0"/>
              <a:t>○ </a:t>
            </a:r>
            <a:r>
              <a:rPr lang="en-US" dirty="0" smtClean="0"/>
              <a:t>Use </a:t>
            </a:r>
            <a:r>
              <a:rPr lang="en-US" b="1" dirty="0" err="1" smtClean="0"/>
              <a:t>Httprobe</a:t>
            </a:r>
            <a:r>
              <a:rPr lang="en-US" dirty="0" smtClean="0"/>
              <a:t> or </a:t>
            </a:r>
            <a:r>
              <a:rPr lang="en-US" b="1" dirty="0" err="1" smtClean="0"/>
              <a:t>Httpx</a:t>
            </a:r>
            <a:r>
              <a:rPr lang="en-US" dirty="0" smtClean="0"/>
              <a:t> to verify which subdomains identified in Task 01 are actually alive. </a:t>
            </a:r>
          </a:p>
          <a:p>
            <a:r>
              <a:rPr lang="en-US" dirty="0" smtClean="0"/>
              <a:t>○ Capture screenshots of all live web assets using </a:t>
            </a:r>
            <a:r>
              <a:rPr lang="en-US" b="1" dirty="0" err="1" smtClean="0"/>
              <a:t>Aquatone</a:t>
            </a:r>
            <a:r>
              <a:rPr lang="en-US" dirty="0" smtClean="0"/>
              <a:t> or </a:t>
            </a:r>
            <a:r>
              <a:rPr lang="en-US" b="1" dirty="0" err="1" smtClean="0"/>
              <a:t>Gowitness</a:t>
            </a:r>
            <a:r>
              <a:rPr lang="en-US" dirty="0" smtClean="0"/>
              <a:t> to identify interesting login panels or dev environments. </a:t>
            </a:r>
          </a:p>
          <a:p>
            <a:pPr lvl="0" fontAlgn="base"/>
            <a:r>
              <a:rPr lang="en-US" b="1" dirty="0" smtClean="0">
                <a:solidFill>
                  <a:srgbClr val="FF0000"/>
                </a:solidFill>
              </a:rPr>
              <a:t>Learning </a:t>
            </a:r>
            <a:r>
              <a:rPr lang="en-US" b="1" dirty="0">
                <a:solidFill>
                  <a:srgbClr val="FF0000"/>
                </a:solidFill>
              </a:rPr>
              <a:t>Goal: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Save time by focusing only on active, high-value targets. </a:t>
            </a:r>
            <a:endParaRPr lang="en-US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500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6637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1238250"/>
            <a:ext cx="11391900" cy="5209794"/>
          </a:xfrm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>
                <a:solidFill>
                  <a:srgbClr val="BA1BCB"/>
                </a:solidFill>
              </a:rPr>
              <a:t>In Task 01 you probably collected: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>
                <a:solidFill>
                  <a:srgbClr val="2BA60E"/>
                </a:solidFill>
              </a:rPr>
              <a:t>•	200 subdomains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>
                <a:solidFill>
                  <a:srgbClr val="2BA60E"/>
                </a:solidFill>
              </a:rPr>
              <a:t>•	500 subdomains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>
                <a:solidFill>
                  <a:srgbClr val="2BA60E"/>
                </a:solidFill>
              </a:rPr>
              <a:t>•	Maybe 1000+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>
                <a:solidFill>
                  <a:srgbClr val="FF0000"/>
                </a:solidFill>
              </a:rPr>
              <a:t>But here’s reality: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>
                <a:solidFill>
                  <a:srgbClr val="2BA60E"/>
                </a:solidFill>
              </a:rPr>
              <a:t>👉 Many are dead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>
                <a:solidFill>
                  <a:srgbClr val="2BA60E"/>
                </a:solidFill>
              </a:rPr>
              <a:t>👉 Many don’t respond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>
                <a:solidFill>
                  <a:srgbClr val="2BA60E"/>
                </a:solidFill>
              </a:rPr>
              <a:t>👉 Many are parked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>
                <a:solidFill>
                  <a:srgbClr val="2BA60E"/>
                </a:solidFill>
              </a:rPr>
              <a:t>👉 Many are useless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/>
              <a:t>If you try to test everything manually, you waste hours.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/>
              <a:t>So Task 04 = </a:t>
            </a:r>
            <a:r>
              <a:rPr lang="en-US" sz="3600" dirty="0">
                <a:solidFill>
                  <a:srgbClr val="BA1BCB"/>
                </a:solidFill>
              </a:rPr>
              <a:t>Filter → Focus → Visualize</a:t>
            </a:r>
          </a:p>
        </p:txBody>
      </p:sp>
    </p:spTree>
    <p:extLst>
      <p:ext uri="{BB962C8B-B14F-4D97-AF65-F5344CB8AC3E}">
        <p14:creationId xmlns:p14="http://schemas.microsoft.com/office/powerpoint/2010/main" val="36409745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1238250"/>
            <a:ext cx="11391900" cy="520979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 smtClean="0">
                <a:latin typeface="Arial" panose="020B0604020202020204" pitchFamily="34" charset="0"/>
              </a:rPr>
              <a:t>Take that merged file of subdomains enumeration (subdomains.txt) of Task 1 and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 smtClean="0">
                <a:latin typeface="Arial" panose="020B0604020202020204" pitchFamily="34" charset="0"/>
              </a:rPr>
              <a:t>cat </a:t>
            </a:r>
            <a:r>
              <a:rPr lang="en-US" altLang="en-US" sz="1600" dirty="0">
                <a:latin typeface="Arial" panose="020B0604020202020204" pitchFamily="34" charset="0"/>
              </a:rPr>
              <a:t>subdomains.txt | </a:t>
            </a:r>
            <a:r>
              <a:rPr lang="en-US" altLang="en-US" sz="1600" dirty="0" err="1">
                <a:latin typeface="Arial" panose="020B0604020202020204" pitchFamily="34" charset="0"/>
              </a:rPr>
              <a:t>httprobe</a:t>
            </a:r>
            <a:r>
              <a:rPr lang="en-US" altLang="en-US" sz="1600" dirty="0">
                <a:latin typeface="Arial" panose="020B0604020202020204" pitchFamily="34" charset="0"/>
              </a:rPr>
              <a:t> --prefer-https &gt; </a:t>
            </a:r>
            <a:r>
              <a:rPr lang="en-US" altLang="en-US" sz="1600" dirty="0" smtClean="0">
                <a:latin typeface="Arial" panose="020B0604020202020204" pitchFamily="34" charset="0"/>
              </a:rPr>
              <a:t>live-urls.txt</a:t>
            </a:r>
          </a:p>
          <a:p>
            <a:r>
              <a:rPr lang="en-US" dirty="0"/>
              <a:t>This will:</a:t>
            </a:r>
          </a:p>
          <a:p>
            <a:r>
              <a:rPr lang="en-US" dirty="0"/>
              <a:t>Test both HTTP and HTTPS for each subdomain.</a:t>
            </a:r>
          </a:p>
          <a:p>
            <a:r>
              <a:rPr lang="en-US" dirty="0"/>
              <a:t>Output only those that respond.</a:t>
            </a:r>
          </a:p>
          <a:p>
            <a:r>
              <a:rPr lang="en-US" dirty="0"/>
              <a:t>Prefer HTTPS (if available) over HTTP</a:t>
            </a:r>
            <a:r>
              <a:rPr lang="en-US" dirty="0" smtClean="0"/>
              <a:t>.</a:t>
            </a:r>
          </a:p>
          <a:p>
            <a:r>
              <a:rPr lang="en-US" b="1" dirty="0"/>
              <a:t>Check the results:</a:t>
            </a: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 smtClean="0">
                <a:latin typeface="Arial" panose="020B0604020202020204" pitchFamily="34" charset="0"/>
              </a:rPr>
              <a:t>  cat live-urls.txt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cat subdomains.txt | </a:t>
            </a:r>
            <a:r>
              <a:rPr lang="en-US" altLang="en-US" sz="1600" dirty="0" err="1">
                <a:latin typeface="Arial" panose="020B0604020202020204" pitchFamily="34" charset="0"/>
              </a:rPr>
              <a:t>httpx</a:t>
            </a:r>
            <a:r>
              <a:rPr lang="en-US" altLang="en-US" sz="1600" dirty="0">
                <a:latin typeface="Arial" panose="020B0604020202020204" pitchFamily="34" charset="0"/>
              </a:rPr>
              <a:t> -status-code -title -tech-detect -o </a:t>
            </a:r>
            <a:r>
              <a:rPr lang="en-US" altLang="en-US" sz="1600" dirty="0" smtClean="0">
                <a:latin typeface="Arial" panose="020B0604020202020204" pitchFamily="34" charset="0"/>
              </a:rPr>
              <a:t>live-httpx.txt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Capture Screenshots with </a:t>
            </a:r>
            <a:r>
              <a:rPr lang="en-US" altLang="en-US" sz="1600" dirty="0" err="1">
                <a:latin typeface="Arial" panose="020B0604020202020204" pitchFamily="34" charset="0"/>
              </a:rPr>
              <a:t>Aquatone</a:t>
            </a:r>
            <a:r>
              <a:rPr lang="en-US" altLang="en-US" sz="1600" dirty="0">
                <a:latin typeface="Arial" panose="020B0604020202020204" pitchFamily="34" charset="0"/>
              </a:rPr>
              <a:t> or </a:t>
            </a:r>
            <a:r>
              <a:rPr lang="en-US" altLang="en-US" sz="1600" dirty="0" err="1" smtClean="0">
                <a:latin typeface="Arial" panose="020B0604020202020204" pitchFamily="34" charset="0"/>
              </a:rPr>
              <a:t>Gowitness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cat </a:t>
            </a:r>
            <a:r>
              <a:rPr lang="en-US" altLang="en-US" sz="1600" dirty="0" smtClean="0">
                <a:latin typeface="Arial" panose="020B0604020202020204" pitchFamily="34" charset="0"/>
              </a:rPr>
              <a:t>live-urls.txt </a:t>
            </a:r>
            <a:r>
              <a:rPr lang="en-US" altLang="en-US" sz="1600" dirty="0">
                <a:latin typeface="Arial" panose="020B0604020202020204" pitchFamily="34" charset="0"/>
              </a:rPr>
              <a:t>| </a:t>
            </a:r>
            <a:r>
              <a:rPr lang="en-US" altLang="en-US" sz="1600" dirty="0" err="1">
                <a:latin typeface="Arial" panose="020B0604020202020204" pitchFamily="34" charset="0"/>
              </a:rPr>
              <a:t>aquatone</a:t>
            </a:r>
            <a:r>
              <a:rPr lang="en-US" altLang="en-US" sz="1600" dirty="0">
                <a:latin typeface="Arial" panose="020B0604020202020204" pitchFamily="34" charset="0"/>
              </a:rPr>
              <a:t> -out ~/</a:t>
            </a:r>
            <a:r>
              <a:rPr lang="en-US" altLang="en-US" sz="1600" dirty="0" err="1" smtClean="0">
                <a:latin typeface="Arial" panose="020B0604020202020204" pitchFamily="34" charset="0"/>
              </a:rPr>
              <a:t>aquatone_results</a:t>
            </a:r>
            <a:endParaRPr lang="en-US" altLang="en-US" sz="16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6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600" dirty="0"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71550" y="952500"/>
            <a:ext cx="12192000" cy="17463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69044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1238250"/>
            <a:ext cx="11391900" cy="5209794"/>
          </a:xfrm>
        </p:spPr>
        <p:txBody>
          <a:bodyPr>
            <a:normAutofit fontScale="77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After the scan finishes, open the generated HTML report: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firefox</a:t>
            </a:r>
            <a:r>
              <a:rPr lang="en-US" altLang="en-US" sz="3600" dirty="0">
                <a:latin typeface="Arial" panose="020B0604020202020204" pitchFamily="34" charset="0"/>
              </a:rPr>
              <a:t> ~/</a:t>
            </a:r>
            <a:r>
              <a:rPr lang="en-US" altLang="en-US" sz="3600" dirty="0" err="1" smtClean="0">
                <a:latin typeface="Arial" panose="020B0604020202020204" pitchFamily="34" charset="0"/>
              </a:rPr>
              <a:t>aquatone_results</a:t>
            </a:r>
            <a:r>
              <a:rPr lang="en-US" altLang="en-US" sz="3600" dirty="0" smtClean="0">
                <a:latin typeface="Arial" panose="020B0604020202020204" pitchFamily="34" charset="0"/>
              </a:rPr>
              <a:t>/aquatone_report.html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You'll see all screenshots in a grid – perfect for spotting login panels or dev environments</a:t>
            </a:r>
            <a:r>
              <a:rPr lang="en-US" altLang="en-US" sz="3600" dirty="0" smtClean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solidFill>
                  <a:srgbClr val="BA1BCB"/>
                </a:solidFill>
                <a:latin typeface="Arial" panose="020B0604020202020204" pitchFamily="34" charset="0"/>
              </a:rPr>
              <a:t>Option B: Using </a:t>
            </a:r>
            <a:r>
              <a:rPr lang="en-US" altLang="en-US" sz="3600" dirty="0" err="1">
                <a:solidFill>
                  <a:srgbClr val="BA1BCB"/>
                </a:solidFill>
                <a:latin typeface="Arial" panose="020B0604020202020204" pitchFamily="34" charset="0"/>
              </a:rPr>
              <a:t>Gowitness</a:t>
            </a:r>
            <a:endParaRPr lang="en-US" altLang="en-US" sz="3600" dirty="0">
              <a:solidFill>
                <a:srgbClr val="BA1BC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gowitness</a:t>
            </a:r>
            <a:r>
              <a:rPr lang="en-US" altLang="en-US" sz="3600" dirty="0">
                <a:latin typeface="Arial" panose="020B0604020202020204" pitchFamily="34" charset="0"/>
              </a:rPr>
              <a:t> file -f live-urls.txt --screenshot-path ~/</a:t>
            </a:r>
            <a:r>
              <a:rPr lang="en-US" altLang="en-US" sz="3600" dirty="0" err="1">
                <a:latin typeface="Arial" panose="020B0604020202020204" pitchFamily="34" charset="0"/>
              </a:rPr>
              <a:t>gowitness_screenshots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To view the results, start the built‑in web server: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gowitness</a:t>
            </a:r>
            <a:r>
              <a:rPr lang="en-US" altLang="en-US" sz="3600" dirty="0">
                <a:latin typeface="Arial" panose="020B0604020202020204" pitchFamily="34" charset="0"/>
              </a:rPr>
              <a:t> report serve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Then open your browser to http://127.0.0.1:7171. You'll get a clean dashboard with all screenshots.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102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1238250"/>
            <a:ext cx="11391900" cy="52097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📊 What Goes in the Report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After filtering + screenshots, you document: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•	Total subdomains found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•	Total live hosts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•	Interesting panels discovered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•	Technologies observed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•	Any obvious exposure (like open directories)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No exploitation.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Just surface mapping.</a:t>
            </a:r>
          </a:p>
        </p:txBody>
      </p:sp>
    </p:spTree>
    <p:extLst>
      <p:ext uri="{BB962C8B-B14F-4D97-AF65-F5344CB8AC3E}">
        <p14:creationId xmlns:p14="http://schemas.microsoft.com/office/powerpoint/2010/main" val="29712347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1238250"/>
            <a:ext cx="11391900" cy="52097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Task 04 is literally: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1.	Remove dead domains.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2.	Screenshot what’s alive.</a:t>
            </a:r>
          </a:p>
          <a:p>
            <a:pPr marL="742950" lvl="0" indent="-7429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 startAt="3"/>
            </a:pPr>
            <a:r>
              <a:rPr lang="en-US" altLang="en-US" sz="3600" dirty="0" smtClean="0">
                <a:latin typeface="Arial" panose="020B0604020202020204" pitchFamily="34" charset="0"/>
              </a:rPr>
              <a:t>Focus </a:t>
            </a:r>
            <a:r>
              <a:rPr lang="en-US" altLang="en-US" sz="3600" dirty="0">
                <a:latin typeface="Arial" panose="020B0604020202020204" pitchFamily="34" charset="0"/>
              </a:rPr>
              <a:t>on valuable assets</a:t>
            </a:r>
            <a:r>
              <a:rPr lang="en-US" altLang="en-US" sz="3600" dirty="0" smtClean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🎯 Learning Goal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“Recon is not about collecting everything.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Recon is about reducing noise and identifying </a:t>
            </a:r>
            <a:r>
              <a:rPr lang="en-US" altLang="en-US" sz="3600" dirty="0" smtClean="0">
                <a:latin typeface="Arial" panose="020B0604020202020204" pitchFamily="34" charset="0"/>
              </a:rPr>
              <a:t>high-value </a:t>
            </a:r>
            <a:r>
              <a:rPr lang="en-US" altLang="en-US" sz="3600" dirty="0">
                <a:latin typeface="Arial" panose="020B0604020202020204" pitchFamily="34" charset="0"/>
              </a:rPr>
              <a:t>active targets</a:t>
            </a:r>
            <a:r>
              <a:rPr lang="en-US" altLang="en-US" sz="3600" dirty="0" smtClean="0">
                <a:latin typeface="Arial" panose="020B0604020202020204" pitchFamily="34" charset="0"/>
              </a:rPr>
              <a:t>.”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That’s it.</a:t>
            </a:r>
          </a:p>
        </p:txBody>
      </p:sp>
    </p:spTree>
    <p:extLst>
      <p:ext uri="{BB962C8B-B14F-4D97-AF65-F5344CB8AC3E}">
        <p14:creationId xmlns:p14="http://schemas.microsoft.com/office/powerpoint/2010/main" val="10098550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1238250"/>
            <a:ext cx="11391900" cy="5209794"/>
          </a:xfrm>
        </p:spPr>
        <p:txBody>
          <a:bodyPr>
            <a:normAutofit fontScale="85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solidFill>
                  <a:srgbClr val="BA1BCB"/>
                </a:solidFill>
                <a:latin typeface="Arial" panose="020B0604020202020204" pitchFamily="34" charset="0"/>
              </a:rPr>
              <a:t>Document Your Findings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For your assignment, you'll likely need to document: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Which subdomains were live.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Screenshots of interesting assets.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Observations about potential security risks (e.g., exposed admin panels).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You can save relevant screenshots from the </a:t>
            </a:r>
            <a:r>
              <a:rPr lang="en-US" altLang="en-US" sz="3600" dirty="0" err="1">
                <a:latin typeface="Arial" panose="020B0604020202020204" pitchFamily="34" charset="0"/>
              </a:rPr>
              <a:t>Aquatone</a:t>
            </a:r>
            <a:r>
              <a:rPr lang="en-US" altLang="en-US" sz="3600" dirty="0">
                <a:latin typeface="Arial" panose="020B0604020202020204" pitchFamily="34" charset="0"/>
              </a:rPr>
              <a:t> folder or take additional manual screenshots using tools like </a:t>
            </a:r>
            <a:r>
              <a:rPr lang="en-US" altLang="en-US" sz="3600" dirty="0" err="1">
                <a:latin typeface="Arial" panose="020B0604020202020204" pitchFamily="34" charset="0"/>
              </a:rPr>
              <a:t>flameshot</a:t>
            </a:r>
            <a:r>
              <a:rPr lang="en-US" altLang="en-US" sz="3600" dirty="0">
                <a:latin typeface="Arial" panose="020B0604020202020204" pitchFamily="34" charset="0"/>
              </a:rPr>
              <a:t> or gnome-screenshot.</a:t>
            </a:r>
          </a:p>
        </p:txBody>
      </p:sp>
    </p:spTree>
    <p:extLst>
      <p:ext uri="{BB962C8B-B14F-4D97-AF65-F5344CB8AC3E}">
        <p14:creationId xmlns:p14="http://schemas.microsoft.com/office/powerpoint/2010/main" val="2900741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1238250"/>
            <a:ext cx="11391900" cy="520979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solidFill>
                <a:srgbClr val="BA1BC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 smtClean="0">
              <a:solidFill>
                <a:srgbClr val="BA1BC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solidFill>
                <a:srgbClr val="BA1BC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smtClean="0">
                <a:solidFill>
                  <a:srgbClr val="BA1BCB"/>
                </a:solidFill>
                <a:latin typeface="Arial" panose="020B0604020202020204" pitchFamily="34" charset="0"/>
              </a:rPr>
              <a:t>      THANK YOU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3645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VE.pptx" id="{928531FE-40B6-4895-993A-83D26AA1E005}" vid="{C99C5ABD-1620-4AD2-A38C-62625556F3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Geometric color block</Template>
  <TotalTime>0</TotalTime>
  <Words>2384</Words>
  <Application>Microsoft Office PowerPoint</Application>
  <PresentationFormat>Widescreen</PresentationFormat>
  <Paragraphs>466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Arial</vt:lpstr>
      <vt:lpstr>Arial Black</vt:lpstr>
      <vt:lpstr>Arial Unicode MS</vt:lpstr>
      <vt:lpstr>Calibri</vt:lpstr>
      <vt:lpstr>Calibri Light</vt:lpstr>
      <vt:lpstr>Century Gothic</vt:lpstr>
      <vt:lpstr>Courier New</vt:lpstr>
      <vt:lpstr>Garamond</vt:lpstr>
      <vt:lpstr>Times New Roman</vt:lpstr>
      <vt:lpstr>Wingdings</vt:lpstr>
      <vt:lpstr>SavonVTI</vt:lpstr>
      <vt:lpstr>Prepared by </vt:lpstr>
      <vt:lpstr>PowerPoint Presentation</vt:lpstr>
      <vt:lpstr>Advanced Recon &amp; Attack Surface Mapping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2 Use DNS Dumpster and CRT.sh to find historical subdomains and SSL certificate leaks.  ○ Identify "hidden" assets that are not indexed by search engines.  </vt:lpstr>
      <vt:lpstr>DNS Dumpster:-</vt:lpstr>
      <vt:lpstr>Why We Use DNS Dumpster </vt:lpstr>
      <vt:lpstr>Task 02 – Infrastructure &amp; Tech Profiling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2026-03-02T09:10:18Z</dcterms:created>
  <dcterms:modified xsi:type="dcterms:W3CDTF">2026-03-03T14:48:57Z</dcterms:modified>
</cp:coreProperties>
</file>